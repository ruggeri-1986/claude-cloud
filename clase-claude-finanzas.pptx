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Hoy no vengo a mostrarles un truco para escribir mails más rápido. Vengo a mostrarles cómo se usa Claude de verdad: con sus datos, con sus procesos y sin tener que pedirle todo cada vez. El eje de la clase son las skills, pero para llegar a eso necesitamos algunas piezas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tiene seis bloques. Primero los fundamentos: modelos, agentes y autonomía. Segundo, contexto: proyectos. Tercero, skills, que es el bloque más largo. Cuarto, conectores y plugins. Quinto, Cowork, tareas programadas y Dispatch. Y sexto, Obsidian, otras funciones y cómo trabajar con control. Hay demos en vivo, así que si algo no se ve bien, avísenme por el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objetivo es concreto: que cada uno se lleve armada una skill, un conector conectado y una tarea programada. Si hacen eso en las próximas semanas, el resto de la clase queda justificada.
[PAUSA] Antes de empezar: levanten la mano, o escriban en el chat, quién usa Claude todos los días y quién lo usó una o dos veces. Así ajusto la velocidad.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no es un solo modelo, es una familia. Hay modelos más chicos y rápidos, pensados para tareas simples y de alto volumen. Hay modelos intermedios, que son el equilibrio entre velocidad y calidad, y es lo que usamos para la mayoría del trabajo diario. Y hay modelos más grandes, para razonamiento complejo: un análisis largo, una revisión de un modelo financiero, una tarea con muchos pasos. Existe además un nivel superior con acceso restringido. La regla práctica: empezar con el intermedio, subir al grande si el resultado no alcanza y bajar al chico si la tarea es repetitiva y simple. Un modelo más grande no siempre es mejor: es más lento y consume más.
VERIFICAR: nombres y versiones vigentes de la familia de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chat responde una pregunta. Un agente persigue un objetivo. La diferencia es que el agente puede usar herramientas, mirar el resultado, decidir el siguiente paso y repetir hasta terminar. Si le pido «revisá este extracto contra el mayor», un chat me da consejos. Un agente abre el archivo, cruza las líneas, anota las diferencias, me devuelve una planilla y me avisa qué no pudo resolver. Tres piezas: un modelo que razona, herramientas que le permiten actuar y un bucle que lo hace verificar su propio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Pensemos la autonomía como una escalera. Primer escalón: chat, yo pregunto y reviso. Segundo: Cowork, Claude trabaja sobre archivos y apps con mi aprobación. Tercero: tareas programadas, Claude corre solo en un horario. Cuarto: Dispatch, yo mando la tarea desde el celular. Cada escalón ahorra más tiempo, pero también tiene más riesgo si el permiso está mal dado. En Finanzas esto importa: no es lo mismo que Claude lea un extracto que mueva un archivo o envíe un mail. La regla que les propongo: lectura sin fricción, escritura con aprobación.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Proyecto es un espacio de trabajo con su propio contexto: instrucciones, archivos de referencia y conversaciones agrupadas. Si cada mes explican de nuevo cómo se cierra el mes, qué cuentas se usan y qué formato quiere la gerencia, están perdiendo tiempo. En un Proyecto lo cargan una vez. Ejemplos: «Cierre mensual», «Pagos a proveedores», «Análisis de costos».
[DEMO] Mostrar un Proyecto con instrucciones y un archivo cargado y hacer una pregunta que use ese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tiene tres capas. Las preferencias son globales: cómo quiero que me responda siempre, por ejemplo formato, idioma y nivel de detalle. Los proyectos son por tema: la información de un área o proceso. Y las skills son por procedimiento: pasos que Claude sigue cuando la tarea coincide. Ordenar la información en estas tres capas evita repetirse y evita que Claude mezcle cosas que no corresponden.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skill es un procedimiento escrito que Claude carga solo cuando lo necesita. Piensen en el manual de un proceso, pero que Claude lee y aplica. La ventaja: no ocupa espacio en cada conversación; Claude lee primero una descripción corta y, solo si la tarea coincide, carga el detalle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skill es una carpeta. Adentro hay un archivo SKILL.md con tres cosas: nombre, descripción e instrucciones. Opcionalmente, scripts, plantillas o archivos de referencia. La descripción es lo que Claude lee siempre. Las instrucciones se cargan cuando la skill se activa. Los recursos, solo si hacen falta.
[DEMO] Abrir una skill real (por ejemplo, una de conciliación) y mostrar el encabezado y los primeros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más falla. Si la descripción es vaga, «ayuda con finanzas», Claude no sabe cuándo usarla. Si es precisa, «usar al conciliar el mayor contra un extracto bancario o subledger e identificar partidas conciliatorias», se activa sola en el momento justo. Escriban la descripción como si le explicaran a un compañero cuándo tiene que abrir ese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formas. Automática: describo la tarea y Claude detecta que hay una skill que aplica. Por nombre: le digo «usá la skill de conciliación». Y con la barra: escribo «/» y elijo la skill de la lista. Mi consejo: al principio, invóquenla por nombre o con «/» para estar seguros de que se usa; con el tiempo, confíen en la activación automática.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sector ya existen skills de cierre mensual, conciliación, asientos contables, análisis de variaciones, estados financieros y pruebas de control. Con ellas, una tarea como «preparame el asiento de la provisión del mes con su respaldo» sigue una estructura definida: débitos, créditos, soporte y revisión. Qué skills tienen disponibles depende de lo que esté instalado en su cuenta; lo vemos en Customize.
VERIFICAR: listado real de skills habilitadas en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Cuatro pasos. Uno: subo el extracto y el mayor. Dos: pido la conciliación nombrando la skill. Tres: reviso las partidas conciliatorias que propone, con la lógica de cada una. Cuatro: pido el resultado en planilla y verifico dos o tres partidas a mano. Resalto el paso cuatro: el control humano forma parte del flujo.
VERIFICAR: usar datos de prueba o anonimizados.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Crear una skill no es programar. Es una conversación. Cuatro pasos: describir el proceso con sus propias palabras, dejar que Claude haga las preguntas que faltan, probar la skill con un caso real y ajustar. Hay una skill específica para crear skills, que guía todo el proceso. Tip: empiecen por un proceso que hagan seguido, que sea aburrido y que tenga reglas claras. Ahí el retorno es inmediato.
[DEMO] Pedir «ayudame a crear una skill para…» y mostrar las primeras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skill no se escribe una vez y se olvida. Cada vez que detectan algo para mejorar, por ejemplo un paso que sobra o un dato que falta, se actualiza. La condición: validar el cambio antes de aplicarlo y confirmar que no empeora la calidad de los datos ni altera el flujo. La eficiencia nunca puede ir en contra de la calidad del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conector es un puente entre Claude y una de sus aplicaciones: Drive, Sheets, Gmail, Calendar, Slack. Con eso, Claude puede leer una hoja, buscar un mail o revisar un canal sin que yo copie y pegue. Se activan en Customize, y cada uno pide que inicien sesión con su cuenta, así que Claude solo ve lo que ustedes ya pueden ver.
VERIFICAR: qué conectores están habilitados en Eleven.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conector, Claude opina sobre lo que yo le pego. Con conector, consulta la fuente, hace la tarea y deja el resultado en el lugar correcto. Ejemplo: «buscá los mails de negociación spot de esta semana y volcá los datos en la hoja».
[DEMO] Una consulta de solo lectura a una hoja de Sheets o a Gmail.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plugin empaqueta skills, conectores, comandos y agentes especializados en un solo paquete. Se instalan desde Customize, en Plugins. Hay uno de finanzas y uno de datos, por ejemplo. Un detalle importante: instalar un plugin no conecta automáticamente sus conectores; cada uno se conecta aparte. Y como los plugins son instrucciones que Claude sigue, instalen solo los de fuentes confiables. En Team y Enterprise, el administrador controla cuáles están disponibles.
VERIFICAR: que instalar un plugin no conecta sus conectores y los controles de administración en Team y Enterprise (documentación oficial de plugins).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Cowork es el modo donde Claude trabaja sobre archivos y aplicaciones de la computadora, no solo dentro del chat. Puede leer una carpeta, procesar varios archivos, generar un Excel o un documento y dejarlo guardado. Usa las mismas skills, conectores y plugins. Es el modo ideal para tareas largas y de varios pasos.
[DEMO] Una tarea corta en Cowork sobre una carpeta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tarea programada es un pedido que Claude ejecuta solo, en un horario: cada hora, todos los días, cada semana, solo días hábiles, o manual. Se crean describiendo la tarea y el horario, y Claude pide confirmación antes de activarla. Cada ejecución es una sesión nueva, y se elige el modo de aprobación. Ejemplos para Finanzas: un resumen de movimientos bancarios cada mañana, un control de pendientes de pago los viernes, un recordatorio de cierre. Las tareas que necesitan archivos o apps locales corren solo en la computadora.
[DEMO] Mostrar la pestaña de tareas programadas.
VERIFICAR: opciones de frecuencia, disponibilidad por plan y regla de ejecución local (artículo oficial de soporte).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 permite mandar una tarea desde el celular a Cowork en la computadora y volver más tarde al resultado. El celular es el control remoto y la computadora hace el trabajo. Requiere que la computadora esté encendida, con la app abierta y conexión. Es una función nueva, presentada como vista previa, así que puede fallar en tareas complejas. Y como puede disparar cualquier acción que Cowork tenga permitida, el permiso se acota con cuidado, especialmente con datos financieros.
VERIFICAR: estado, disponibilidad por plan y límites de Dispatch (fuente consultada: nota de terceros, marzo 2026, vista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Obsidian es una app de notas que guarda todo en archivos de texto simples. Si armamos una bóveda con notas sobre procesos, decisiones y glosario, Claude puede leerla y escribir en ella a través de un conector. El resultado es una memoria propia, ordenada y portable, que no depende de un servicio. Para Finanzas sirve para documentar procesos de cierre, criterios contables y decisiones. Importante: no guarden datos sensibles de la empresa sin definir antes dónde vive la bóveda. Es una opción que hoy uso yo; no es obligatoria para 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funciones más, en pocas palabras. Memoria: Claude puede recordar preferencias entre conversaciones. Carga de archivos: Excel, PDF y CSV para analizar directamente. Artifacts: tableros y páginas interactivas a partir de datos. Investigación profunda: informes con múltiples fuentes. Y Claude en Chrome: automatizar tareas en sitios web con sus propias sesiones. Todas sirven en Finanzas, pero conviene empezar por una sola.
VERIFICAR: disponibilidad por plan y estado actual de cada función.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más importante de la clase. Claude acelera, pero la responsabilidad por la cifra es de ustedes. Cuatro reglas: no peguen datos sensibles fuera de lo permitido por la empresa; controlen siempre los números críticos contra la fuente; den permisos mínimos; y prefieran aprobar acciones de escritura una por una al principio. Si algo no cierra, pregúntenle a Claude de dónde sacó 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Semana uno: crear un Proyecto con el contexto de un proceso. Semana dos: armar una skill de un proceso repetitivo. Semana tres: conectar Drive o Sheets y probar con lectura. Semana cuatro: programar una tarea simple. Al final del mes, medimos cuánto tiempo ahorraron.
[PAUSA] ¿Qué proceso eligen para la semana uno? Escríbanlo en el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Abrimos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634594" y="868680"/>
            <a:ext cx="7863840" cy="2560320"/>
          </a:xfrm>
          <a:prstGeom prst="rect">
            <a:avLst/>
          </a:prstGeom>
          <a:noFill/>
          <a:ln/>
        </p:spPr>
        <p:txBody>
          <a:bodyPr wrap="square" lIns="0" tIns="0" rIns="0" bIns="0" rtlCol="0" anchor="t"/>
          <a:lstStyle/>
          <a:p>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Claude a fondo:</a:t>
            </a:r>
            <a:endParaRPr lang="en-US" sz="4500" dirty="0"/>
          </a:p>
          <a:p>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de chat a </a:t>
            </a:r>
            <a:endParaRPr lang="en-US" sz="4500" dirty="0"/>
          </a:p>
          <a:p>
            <a:pPr algn="l" indent="0" marL="0">
              <a:lnSpc>
                <a:spcPct val="95000"/>
              </a:lnSpc>
              <a:buNone/>
            </a:pPr>
            <a:r>
              <a:rPr lang="en-US" sz="4500" dirty="0">
                <a:solidFill>
                  <a:srgbClr val="E6E6FF"/>
                </a:solidFill>
                <a:latin typeface="Gloock" pitchFamily="34" charset="0"/>
                <a:ea typeface="Gloock" pitchFamily="34" charset="-122"/>
                <a:cs typeface="Gloock" pitchFamily="34" charset="-120"/>
              </a:rPr>
              <a:t>compañero</a:t>
            </a:r>
            <a:pPr algn="l" indent="0" marL="0">
              <a:lnSpc>
                <a:spcPct val="95000"/>
              </a:lnSpc>
              <a:buNone/>
            </a:pPr>
            <a:endParaRPr lang="en-US" sz="4500" dirty="0"/>
          </a:p>
          <a:p>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de trabajo de Finanzas</a:t>
            </a:r>
            <a:endParaRPr lang="en-US" sz="4500" dirty="0"/>
          </a:p>
        </p:txBody>
      </p:sp>
      <p:sp>
        <p:nvSpPr>
          <p:cNvPr id="3" name="Shape 1"/>
          <p:cNvSpPr/>
          <p:nvPr/>
        </p:nvSpPr>
        <p:spPr>
          <a:xfrm>
            <a:off x="634594" y="4069080"/>
            <a:ext cx="1737360" cy="365760"/>
          </a:xfrm>
          <a:prstGeom prst="roundRect">
            <a:avLst>
              <a:gd name="adj" fmla="val 50000"/>
            </a:avLst>
          </a:prstGeom>
          <a:ln w="12700">
            <a:solidFill>
              <a:srgbClr val="9E9E9E"/>
            </a:solidFill>
            <a:prstDash val="solid"/>
          </a:ln>
        </p:spPr>
      </p:sp>
      <p:sp>
        <p:nvSpPr>
          <p:cNvPr id="4" name="Text 2"/>
          <p:cNvSpPr txBox="1"/>
          <p:nvPr/>
        </p:nvSpPr>
        <p:spPr>
          <a:xfrm>
            <a:off x="634594" y="4069080"/>
            <a:ext cx="1737360" cy="365760"/>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DM Sans" pitchFamily="34" charset="0"/>
                <a:ea typeface="DM Sans" pitchFamily="34" charset="-122"/>
                <a:cs typeface="DM Sans" pitchFamily="34" charset="-120"/>
              </a:rPr>
              <a:t>octubre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365760"/>
          </a:xfrm>
          <a:prstGeom prst="rect">
            <a:avLst/>
          </a:prstGeom>
          <a:noFill/>
          <a:ln/>
        </p:spPr>
        <p:txBody>
          <a:bodyPr wrap="square" lIns="0" tIns="0" rIns="0" bIns="0" rtlCol="0" anchor="t"/>
          <a:lstStyle/>
          <a:p>
            <a:pPr algn="l" indent="0" marL="0">
              <a:lnSpc>
                <a:spcPct val="100000"/>
              </a:lnSpc>
              <a:buNone/>
            </a:pPr>
            <a:r>
              <a:rPr lang="en-US" sz="2150" dirty="0">
                <a:solidFill>
                  <a:srgbClr val="3333FF"/>
                </a:solidFill>
                <a:latin typeface="Gloock" pitchFamily="34" charset="0"/>
                <a:ea typeface="Gloock" pitchFamily="34" charset="-122"/>
                <a:cs typeface="Gloock" pitchFamily="34" charset="-120"/>
              </a:rPr>
              <a:t>Seis bloques para pasar de «preguntarle» a «delegarle»</a:t>
            </a:r>
            <a:endParaRPr lang="en-US" sz="2150" dirty="0"/>
          </a:p>
        </p:txBody>
      </p:sp>
      <p:sp>
        <p:nvSpPr>
          <p:cNvPr id="3" name="Shape 1"/>
          <p:cNvSpPr/>
          <p:nvPr/>
        </p:nvSpPr>
        <p:spPr>
          <a:xfrm>
            <a:off x="634594" y="1005840"/>
            <a:ext cx="7887614" cy="0"/>
          </a:xfrm>
          <a:prstGeom prst="line">
            <a:avLst/>
          </a:prstGeom>
          <a:noFill/>
          <a:ln w="12700">
            <a:solidFill>
              <a:srgbClr val="E4E4E4"/>
            </a:solidFill>
            <a:prstDash val="solid"/>
          </a:ln>
        </p:spPr>
      </p:sp>
      <p:sp>
        <p:nvSpPr>
          <p:cNvPr id="4" name="Text 2"/>
          <p:cNvSpPr txBox="1"/>
          <p:nvPr/>
        </p:nvSpPr>
        <p:spPr>
          <a:xfrm>
            <a:off x="634594" y="1234440"/>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1</a:t>
            </a:r>
            <a:endParaRPr lang="en-US" sz="1900" dirty="0"/>
          </a:p>
        </p:txBody>
      </p:sp>
      <p:sp>
        <p:nvSpPr>
          <p:cNvPr id="5" name="Text 3"/>
          <p:cNvSpPr txBox="1"/>
          <p:nvPr/>
        </p:nvSpPr>
        <p:spPr>
          <a:xfrm>
            <a:off x="1188720" y="1234440"/>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Fundamentos</a:t>
            </a:r>
            <a:endParaRPr lang="en-US" sz="1400" dirty="0"/>
          </a:p>
        </p:txBody>
      </p:sp>
      <p:sp>
        <p:nvSpPr>
          <p:cNvPr id="6" name="Text 4"/>
          <p:cNvSpPr txBox="1"/>
          <p:nvPr/>
        </p:nvSpPr>
        <p:spPr>
          <a:xfrm>
            <a:off x="7223760" y="1234440"/>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4–7</a:t>
            </a:r>
            <a:endParaRPr lang="en-US" sz="1200" dirty="0"/>
          </a:p>
        </p:txBody>
      </p:sp>
      <p:sp>
        <p:nvSpPr>
          <p:cNvPr id="7" name="Text 5"/>
          <p:cNvSpPr txBox="1"/>
          <p:nvPr/>
        </p:nvSpPr>
        <p:spPr>
          <a:xfrm>
            <a:off x="634594" y="1764792"/>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2</a:t>
            </a:r>
            <a:endParaRPr lang="en-US" sz="1900" dirty="0"/>
          </a:p>
        </p:txBody>
      </p:sp>
      <p:sp>
        <p:nvSpPr>
          <p:cNvPr id="8" name="Text 6"/>
          <p:cNvSpPr txBox="1"/>
          <p:nvPr/>
        </p:nvSpPr>
        <p:spPr>
          <a:xfrm>
            <a:off x="1188720" y="1764792"/>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Contexto y proyectos</a:t>
            </a:r>
            <a:endParaRPr lang="en-US" sz="1400" dirty="0"/>
          </a:p>
        </p:txBody>
      </p:sp>
      <p:sp>
        <p:nvSpPr>
          <p:cNvPr id="9" name="Text 7"/>
          <p:cNvSpPr txBox="1"/>
          <p:nvPr/>
        </p:nvSpPr>
        <p:spPr>
          <a:xfrm>
            <a:off x="7223760" y="1764792"/>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8–10</a:t>
            </a:r>
            <a:endParaRPr lang="en-US" sz="1200" dirty="0"/>
          </a:p>
        </p:txBody>
      </p:sp>
      <p:sp>
        <p:nvSpPr>
          <p:cNvPr id="10" name="Text 8"/>
          <p:cNvSpPr txBox="1"/>
          <p:nvPr/>
        </p:nvSpPr>
        <p:spPr>
          <a:xfrm>
            <a:off x="634594" y="2295144"/>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3</a:t>
            </a:r>
            <a:endParaRPr lang="en-US" sz="1900" dirty="0"/>
          </a:p>
        </p:txBody>
      </p:sp>
      <p:sp>
        <p:nvSpPr>
          <p:cNvPr id="11" name="Text 9"/>
          <p:cNvSpPr txBox="1"/>
          <p:nvPr/>
        </p:nvSpPr>
        <p:spPr>
          <a:xfrm>
            <a:off x="1188720" y="2295144"/>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Skills</a:t>
            </a:r>
            <a:endParaRPr lang="en-US" sz="1400" dirty="0"/>
          </a:p>
        </p:txBody>
      </p:sp>
      <p:sp>
        <p:nvSpPr>
          <p:cNvPr id="12" name="Text 10"/>
          <p:cNvSpPr txBox="1"/>
          <p:nvPr/>
        </p:nvSpPr>
        <p:spPr>
          <a:xfrm>
            <a:off x="7223760" y="2295144"/>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11–19</a:t>
            </a:r>
            <a:endParaRPr lang="en-US" sz="1200" dirty="0"/>
          </a:p>
        </p:txBody>
      </p:sp>
      <p:sp>
        <p:nvSpPr>
          <p:cNvPr id="13" name="Text 11"/>
          <p:cNvSpPr txBox="1"/>
          <p:nvPr/>
        </p:nvSpPr>
        <p:spPr>
          <a:xfrm>
            <a:off x="634594" y="2825496"/>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4</a:t>
            </a:r>
            <a:endParaRPr lang="en-US" sz="1900" dirty="0"/>
          </a:p>
        </p:txBody>
      </p:sp>
      <p:sp>
        <p:nvSpPr>
          <p:cNvPr id="14" name="Text 12"/>
          <p:cNvSpPr txBox="1"/>
          <p:nvPr/>
        </p:nvSpPr>
        <p:spPr>
          <a:xfrm>
            <a:off x="1188720" y="2825496"/>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Conectores y plugins</a:t>
            </a:r>
            <a:endParaRPr lang="en-US" sz="1400" dirty="0"/>
          </a:p>
        </p:txBody>
      </p:sp>
      <p:sp>
        <p:nvSpPr>
          <p:cNvPr id="15" name="Text 13"/>
          <p:cNvSpPr txBox="1"/>
          <p:nvPr/>
        </p:nvSpPr>
        <p:spPr>
          <a:xfrm>
            <a:off x="7223760" y="2825496"/>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20–23</a:t>
            </a:r>
            <a:endParaRPr lang="en-US" sz="1200" dirty="0"/>
          </a:p>
        </p:txBody>
      </p:sp>
      <p:sp>
        <p:nvSpPr>
          <p:cNvPr id="16" name="Text 14"/>
          <p:cNvSpPr txBox="1"/>
          <p:nvPr/>
        </p:nvSpPr>
        <p:spPr>
          <a:xfrm>
            <a:off x="634594" y="3355848"/>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5</a:t>
            </a:r>
            <a:endParaRPr lang="en-US" sz="1900" dirty="0"/>
          </a:p>
        </p:txBody>
      </p:sp>
      <p:sp>
        <p:nvSpPr>
          <p:cNvPr id="17" name="Text 15"/>
          <p:cNvSpPr txBox="1"/>
          <p:nvPr/>
        </p:nvSpPr>
        <p:spPr>
          <a:xfrm>
            <a:off x="1188720" y="3355848"/>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Cowork, tareas programadas y Dispatch</a:t>
            </a:r>
            <a:endParaRPr lang="en-US" sz="1400" dirty="0"/>
          </a:p>
        </p:txBody>
      </p:sp>
      <p:sp>
        <p:nvSpPr>
          <p:cNvPr id="18" name="Text 16"/>
          <p:cNvSpPr txBox="1"/>
          <p:nvPr/>
        </p:nvSpPr>
        <p:spPr>
          <a:xfrm>
            <a:off x="7223760" y="3355848"/>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24–27</a:t>
            </a:r>
            <a:endParaRPr lang="en-US" sz="1200" dirty="0"/>
          </a:p>
        </p:txBody>
      </p:sp>
      <p:sp>
        <p:nvSpPr>
          <p:cNvPr id="19" name="Text 17"/>
          <p:cNvSpPr txBox="1"/>
          <p:nvPr/>
        </p:nvSpPr>
        <p:spPr>
          <a:xfrm>
            <a:off x="634594" y="3886200"/>
            <a:ext cx="457200" cy="411480"/>
          </a:xfrm>
          <a:prstGeom prst="rect">
            <a:avLst/>
          </a:prstGeom>
          <a:noFill/>
          <a:ln/>
        </p:spPr>
        <p:txBody>
          <a:bodyPr wrap="square" lIns="0" tIns="0" rIns="0" bIns="0" rtlCol="0" anchor="ctr"/>
          <a:lstStyle/>
          <a:p>
            <a:pPr algn="l" indent="0" marL="0">
              <a:lnSpc>
                <a:spcPct val="100000"/>
              </a:lnSpc>
              <a:buNone/>
            </a:pPr>
            <a:r>
              <a:rPr lang="en-US" sz="1900" dirty="0">
                <a:solidFill>
                  <a:srgbClr val="3333FF"/>
                </a:solidFill>
                <a:latin typeface="DM Sans SemiBold" pitchFamily="34" charset="0"/>
                <a:ea typeface="DM Sans SemiBold" pitchFamily="34" charset="-122"/>
                <a:cs typeface="DM Sans SemiBold" pitchFamily="34" charset="-120"/>
              </a:rPr>
              <a:t>6</a:t>
            </a:r>
            <a:endParaRPr lang="en-US" sz="1900" dirty="0"/>
          </a:p>
        </p:txBody>
      </p:sp>
      <p:sp>
        <p:nvSpPr>
          <p:cNvPr id="20" name="Text 18"/>
          <p:cNvSpPr txBox="1"/>
          <p:nvPr/>
        </p:nvSpPr>
        <p:spPr>
          <a:xfrm>
            <a:off x="1188720" y="3886200"/>
            <a:ext cx="5943600" cy="411480"/>
          </a:xfrm>
          <a:prstGeom prst="rect">
            <a:avLst/>
          </a:prstGeom>
          <a:noFill/>
          <a:ln/>
        </p:spPr>
        <p:txBody>
          <a:bodyPr wrap="square" lIns="0" tIns="0" rIns="0" bIns="0" rtlCol="0" anchor="ctr"/>
          <a:lstStyle/>
          <a:p>
            <a:pPr algn="l" indent="0" marL="0">
              <a:lnSpc>
                <a:spcPct val="100000"/>
              </a:lnSpc>
              <a:buNone/>
            </a:pPr>
            <a:r>
              <a:rPr lang="en-US" sz="1400" dirty="0">
                <a:solidFill>
                  <a:srgbClr val="333333"/>
                </a:solidFill>
                <a:latin typeface="DM Sans Medium" pitchFamily="34" charset="0"/>
                <a:ea typeface="DM Sans Medium" pitchFamily="34" charset="-122"/>
                <a:cs typeface="DM Sans Medium" pitchFamily="34" charset="-120"/>
              </a:rPr>
              <a:t>Memoria, funciones y control</a:t>
            </a:r>
            <a:endParaRPr lang="en-US" sz="1400" dirty="0"/>
          </a:p>
        </p:txBody>
      </p:sp>
      <p:sp>
        <p:nvSpPr>
          <p:cNvPr id="21" name="Text 19"/>
          <p:cNvSpPr txBox="1"/>
          <p:nvPr/>
        </p:nvSpPr>
        <p:spPr>
          <a:xfrm>
            <a:off x="7223760" y="3886200"/>
            <a:ext cx="1298448" cy="411480"/>
          </a:xfrm>
          <a:prstGeom prst="rect">
            <a:avLst/>
          </a:prstGeom>
          <a:noFill/>
          <a:ln/>
        </p:spPr>
        <p:txBody>
          <a:bodyPr wrap="square" lIns="0" tIns="0" rIns="0" bIns="0" rtlCol="0" anchor="ctr"/>
          <a:lstStyle/>
          <a:p>
            <a:pPr algn="r" indent="0" marL="0">
              <a:lnSpc>
                <a:spcPct val="100000"/>
              </a:lnSpc>
              <a:buNone/>
            </a:pPr>
            <a:r>
              <a:rPr lang="en-US" sz="1200" dirty="0">
                <a:solidFill>
                  <a:srgbClr val="000099"/>
                </a:solidFill>
                <a:latin typeface="DM Sans Medium" pitchFamily="34" charset="0"/>
                <a:ea typeface="DM Sans Medium" pitchFamily="34" charset="-122"/>
                <a:cs typeface="DM Sans Medium" pitchFamily="34" charset="-120"/>
              </a:rPr>
              <a:t>28–32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1554480"/>
            <a:ext cx="7132320" cy="2011680"/>
          </a:xfrm>
          <a:prstGeom prst="rect">
            <a:avLst/>
          </a:prstGeom>
          <a:noFill/>
          <a:ln/>
        </p:spPr>
        <p:txBody>
          <a:bodyPr wrap="square" lIns="0" tIns="0" rIns="0" bIns="0" rtlCol="0" anchor="ctr"/>
          <a:lstStyle/>
          <a:p>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Hoy vas a salir con </a:t>
            </a:r>
            <a:pPr algn="l" indent="0" marL="0">
              <a:lnSpc>
                <a:spcPct val="105000"/>
              </a:lnSpc>
              <a:buNone/>
            </a:pPr>
            <a:r>
              <a:rPr lang="en-US" sz="3200" dirty="0">
                <a:solidFill>
                  <a:srgbClr val="3333FF"/>
                </a:solidFill>
                <a:latin typeface="Gloock" pitchFamily="34" charset="0"/>
                <a:ea typeface="Gloock" pitchFamily="34" charset="-122"/>
                <a:cs typeface="Gloock" pitchFamily="34" charset="-120"/>
              </a:rPr>
              <a:t>una skill, un conector y una tarea programada</a:t>
            </a:r>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 propios</a:t>
            </a:r>
            <a:endParaRPr lang="en-US" sz="3200" dirty="0"/>
          </a:p>
        </p:txBody>
      </p:sp>
      <p:sp>
        <p:nvSpPr>
          <p:cNvPr id="3" name="Text 1"/>
          <p:cNvSpPr txBox="1"/>
          <p:nvPr/>
        </p:nvSpPr>
        <p:spPr>
          <a:xfrm>
            <a:off x="634594" y="3749040"/>
            <a:ext cx="7132320" cy="868680"/>
          </a:xfrm>
          <a:prstGeom prst="rect">
            <a:avLst/>
          </a:prstGeom>
          <a:noFill/>
          <a:ln/>
        </p:spPr>
        <p:txBody>
          <a:bodyPr wrap="square" lIns="0" tIns="0" rIns="0" bIns="0" rtlCol="0" anchor="t"/>
          <a:lstStyle/>
          <a:p>
            <a:pPr algn="l" indent="0" marL="0">
              <a:lnSpc>
                <a:spcPct val="100000"/>
              </a:lnSpc>
              <a:spcAft>
                <a:spcPts val="200"/>
              </a:spcAft>
              <a:buNone/>
            </a:pPr>
            <a:r>
              <a:rPr lang="en-US" sz="1300" dirty="0">
                <a:solidFill>
                  <a:srgbClr val="333333"/>
                </a:solidFill>
                <a:latin typeface="DM Sans" pitchFamily="34" charset="0"/>
                <a:ea typeface="DM Sans" pitchFamily="34" charset="-122"/>
                <a:cs typeface="DM Sans" pitchFamily="34" charset="-120"/>
              </a:rPr>
              <a:t>Antes de empezar: ¿quién usa Claude todos los días y quién lo usó una o dos veces? Escríbanlo en el chat.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01</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Fundamentos</a:t>
            </a:r>
            <a:endParaRPr lang="en-US" sz="4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Claude es una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familia de modelos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se elige según la tarea</a:t>
            </a:r>
            <a:endParaRPr lang="en-US" sz="1800" dirty="0"/>
          </a:p>
        </p:txBody>
      </p:sp>
      <p:sp>
        <p:nvSpPr>
          <p:cNvPr id="4" name="Shape 1"/>
          <p:cNvSpPr/>
          <p:nvPr/>
        </p:nvSpPr>
        <p:spPr>
          <a:xfrm>
            <a:off x="634594" y="1371600"/>
            <a:ext cx="2468880" cy="2103120"/>
          </a:xfrm>
          <a:prstGeom prst="roundRect">
            <a:avLst>
              <a:gd name="adj" fmla="val 5435"/>
            </a:avLst>
          </a:prstGeom>
          <a:solidFill>
            <a:srgbClr val="EEEFFE"/>
          </a:solidFill>
          <a:ln/>
        </p:spPr>
      </p:sp>
      <p:sp>
        <p:nvSpPr>
          <p:cNvPr id="5" name="Text 2"/>
          <p:cNvSpPr txBox="1"/>
          <p:nvPr/>
        </p:nvSpPr>
        <p:spPr>
          <a:xfrm>
            <a:off x="81747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Chico y rápido</a:t>
            </a:r>
            <a:endParaRPr lang="en-US" sz="1400" dirty="0"/>
          </a:p>
        </p:txBody>
      </p:sp>
      <p:sp>
        <p:nvSpPr>
          <p:cNvPr id="6" name="Text 3"/>
          <p:cNvSpPr txBox="1"/>
          <p:nvPr/>
        </p:nvSpPr>
        <p:spPr>
          <a:xfrm>
            <a:off x="817474" y="1965960"/>
            <a:ext cx="2103120" cy="137160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Tareas simples, repetitivas y de alto volumen.</a:t>
            </a:r>
            <a:endParaRPr lang="en-US" sz="1200" dirty="0"/>
          </a:p>
        </p:txBody>
      </p:sp>
      <p:sp>
        <p:nvSpPr>
          <p:cNvPr id="7" name="Shape 4"/>
          <p:cNvSpPr/>
          <p:nvPr/>
        </p:nvSpPr>
        <p:spPr>
          <a:xfrm>
            <a:off x="3332074" y="1371600"/>
            <a:ext cx="2468880" cy="2103120"/>
          </a:xfrm>
          <a:prstGeom prst="roundRect">
            <a:avLst>
              <a:gd name="adj" fmla="val 5435"/>
            </a:avLst>
          </a:prstGeom>
          <a:solidFill>
            <a:srgbClr val="EEEFFE"/>
          </a:solidFill>
          <a:ln/>
        </p:spPr>
      </p:sp>
      <p:sp>
        <p:nvSpPr>
          <p:cNvPr id="8" name="Text 5"/>
          <p:cNvSpPr txBox="1"/>
          <p:nvPr/>
        </p:nvSpPr>
        <p:spPr>
          <a:xfrm>
            <a:off x="351495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Intermedio</a:t>
            </a:r>
            <a:endParaRPr lang="en-US" sz="1400" dirty="0"/>
          </a:p>
        </p:txBody>
      </p:sp>
      <p:sp>
        <p:nvSpPr>
          <p:cNvPr id="9" name="Text 6"/>
          <p:cNvSpPr txBox="1"/>
          <p:nvPr/>
        </p:nvSpPr>
        <p:spPr>
          <a:xfrm>
            <a:off x="3514954" y="1965960"/>
            <a:ext cx="2103120" cy="137160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Equilibrio entre velocidad y calidad. Es el que se usa en la mayor parte del trabajo diario.</a:t>
            </a:r>
            <a:endParaRPr lang="en-US" sz="1200" dirty="0"/>
          </a:p>
        </p:txBody>
      </p:sp>
      <p:sp>
        <p:nvSpPr>
          <p:cNvPr id="10" name="Shape 7"/>
          <p:cNvSpPr/>
          <p:nvPr/>
        </p:nvSpPr>
        <p:spPr>
          <a:xfrm>
            <a:off x="6029554" y="1371600"/>
            <a:ext cx="2468880" cy="2103120"/>
          </a:xfrm>
          <a:prstGeom prst="roundRect">
            <a:avLst>
              <a:gd name="adj" fmla="val 5435"/>
            </a:avLst>
          </a:prstGeom>
          <a:solidFill>
            <a:srgbClr val="EEEFFE"/>
          </a:solidFill>
          <a:ln/>
        </p:spPr>
      </p:sp>
      <p:sp>
        <p:nvSpPr>
          <p:cNvPr id="11" name="Text 8"/>
          <p:cNvSpPr txBox="1"/>
          <p:nvPr/>
        </p:nvSpPr>
        <p:spPr>
          <a:xfrm>
            <a:off x="621243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Grande</a:t>
            </a:r>
            <a:endParaRPr lang="en-US" sz="1400" dirty="0"/>
          </a:p>
        </p:txBody>
      </p:sp>
      <p:sp>
        <p:nvSpPr>
          <p:cNvPr id="12" name="Text 9"/>
          <p:cNvSpPr txBox="1"/>
          <p:nvPr/>
        </p:nvSpPr>
        <p:spPr>
          <a:xfrm>
            <a:off x="6212434" y="1965960"/>
            <a:ext cx="2103120" cy="137160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Razonamiento complejo: un análisis largo, la revisión de un modelo financiero, tareas con muchos pasos.</a:t>
            </a:r>
            <a:endParaRPr lang="en-US" sz="1200" dirty="0"/>
          </a:p>
        </p:txBody>
      </p:sp>
      <p:sp>
        <p:nvSpPr>
          <p:cNvPr id="13" name="Shape 10"/>
          <p:cNvSpPr/>
          <p:nvPr/>
        </p:nvSpPr>
        <p:spPr>
          <a:xfrm>
            <a:off x="634594" y="3703320"/>
            <a:ext cx="7887614" cy="594360"/>
          </a:xfrm>
          <a:prstGeom prst="roundRect">
            <a:avLst>
              <a:gd name="adj" fmla="val 19231"/>
            </a:avLst>
          </a:prstGeom>
          <a:solidFill>
            <a:srgbClr val="EEEFFE"/>
          </a:solidFill>
          <a:ln/>
        </p:spPr>
      </p:sp>
      <p:sp>
        <p:nvSpPr>
          <p:cNvPr id="14" name="Text 11"/>
          <p:cNvSpPr txBox="1"/>
          <p:nvPr/>
        </p:nvSpPr>
        <p:spPr>
          <a:xfrm>
            <a:off x="863194" y="370332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Empezar por el intermedio. Subir si no alcanza, bajar si la tarea es simple.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agente</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es un modelo que usa herramientas hasta terminar la tarea</a:t>
            </a:r>
            <a:endParaRPr lang="en-US" sz="1800" dirty="0"/>
          </a:p>
        </p:txBody>
      </p:sp>
      <p:sp>
        <p:nvSpPr>
          <p:cNvPr id="4" name="Shape 1"/>
          <p:cNvSpPr/>
          <p:nvPr/>
        </p:nvSpPr>
        <p:spPr>
          <a:xfrm>
            <a:off x="634594" y="2514600"/>
            <a:ext cx="2011680" cy="822960"/>
          </a:xfrm>
          <a:prstGeom prst="roundRect">
            <a:avLst>
              <a:gd name="adj" fmla="val 13889"/>
            </a:avLst>
          </a:prstGeom>
          <a:solidFill>
            <a:srgbClr val="3333FF"/>
          </a:solidFill>
          <a:ln/>
        </p:spPr>
      </p:sp>
      <p:sp>
        <p:nvSpPr>
          <p:cNvPr id="5" name="Text 2"/>
          <p:cNvSpPr txBox="1"/>
          <p:nvPr/>
        </p:nvSpPr>
        <p:spPr>
          <a:xfrm>
            <a:off x="771754" y="2514600"/>
            <a:ext cx="1737360" cy="822960"/>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Agente</a:t>
            </a:r>
            <a:endParaRPr lang="en-US" sz="1400" dirty="0"/>
          </a:p>
        </p:txBody>
      </p:sp>
      <p:sp>
        <p:nvSpPr>
          <p:cNvPr id="6" name="Shape 3"/>
          <p:cNvSpPr/>
          <p:nvPr/>
        </p:nvSpPr>
        <p:spPr>
          <a:xfrm>
            <a:off x="2646274" y="2926080"/>
            <a:ext cx="737006" cy="0"/>
          </a:xfrm>
          <a:prstGeom prst="line">
            <a:avLst/>
          </a:prstGeom>
          <a:noFill/>
          <a:ln w="12700">
            <a:solidFill>
              <a:srgbClr val="9E9E9E"/>
            </a:solidFill>
            <a:prstDash val="solid"/>
          </a:ln>
        </p:spPr>
      </p:sp>
      <p:sp>
        <p:nvSpPr>
          <p:cNvPr id="7" name="Shape 4"/>
          <p:cNvSpPr/>
          <p:nvPr/>
        </p:nvSpPr>
        <p:spPr>
          <a:xfrm>
            <a:off x="3383280" y="1828800"/>
            <a:ext cx="0" cy="2194560"/>
          </a:xfrm>
          <a:prstGeom prst="line">
            <a:avLst/>
          </a:prstGeom>
          <a:noFill/>
          <a:ln w="12700">
            <a:solidFill>
              <a:srgbClr val="9E9E9E"/>
            </a:solidFill>
            <a:prstDash val="solid"/>
          </a:ln>
        </p:spPr>
      </p:sp>
      <p:sp>
        <p:nvSpPr>
          <p:cNvPr id="8" name="Shape 5"/>
          <p:cNvSpPr/>
          <p:nvPr/>
        </p:nvSpPr>
        <p:spPr>
          <a:xfrm>
            <a:off x="3383280" y="1828800"/>
            <a:ext cx="804672" cy="0"/>
          </a:xfrm>
          <a:prstGeom prst="line">
            <a:avLst/>
          </a:prstGeom>
          <a:noFill/>
          <a:ln w="12700">
            <a:solidFill>
              <a:srgbClr val="9E9E9E"/>
            </a:solidFill>
            <a:prstDash val="solid"/>
          </a:ln>
        </p:spPr>
      </p:sp>
      <p:sp>
        <p:nvSpPr>
          <p:cNvPr id="9" name="Shape 6"/>
          <p:cNvSpPr/>
          <p:nvPr/>
        </p:nvSpPr>
        <p:spPr>
          <a:xfrm>
            <a:off x="4187952" y="1371600"/>
            <a:ext cx="4334256" cy="914400"/>
          </a:xfrm>
          <a:prstGeom prst="roundRect">
            <a:avLst>
              <a:gd name="adj" fmla="val 12500"/>
            </a:avLst>
          </a:prstGeom>
          <a:solidFill>
            <a:srgbClr val="EEEFFE"/>
          </a:solidFill>
          <a:ln/>
        </p:spPr>
      </p:sp>
      <p:sp>
        <p:nvSpPr>
          <p:cNvPr id="10" name="Text 7"/>
          <p:cNvSpPr txBox="1"/>
          <p:nvPr/>
        </p:nvSpPr>
        <p:spPr>
          <a:xfrm>
            <a:off x="4416552" y="148132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Un modelo que razona</a:t>
            </a:r>
            <a:endParaRPr lang="en-US" sz="1300" dirty="0"/>
          </a:p>
        </p:txBody>
      </p:sp>
      <p:sp>
        <p:nvSpPr>
          <p:cNvPr id="11" name="Text 8"/>
          <p:cNvSpPr txBox="1"/>
          <p:nvPr/>
        </p:nvSpPr>
        <p:spPr>
          <a:xfrm>
            <a:off x="4416552" y="175564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Decide cuál es el siguiente paso.</a:t>
            </a:r>
            <a:endParaRPr lang="en-US" sz="1050" dirty="0"/>
          </a:p>
        </p:txBody>
      </p:sp>
      <p:sp>
        <p:nvSpPr>
          <p:cNvPr id="12" name="Shape 9"/>
          <p:cNvSpPr/>
          <p:nvPr/>
        </p:nvSpPr>
        <p:spPr>
          <a:xfrm>
            <a:off x="3383280" y="2926080"/>
            <a:ext cx="804672" cy="0"/>
          </a:xfrm>
          <a:prstGeom prst="line">
            <a:avLst/>
          </a:prstGeom>
          <a:noFill/>
          <a:ln w="12700">
            <a:solidFill>
              <a:srgbClr val="9E9E9E"/>
            </a:solidFill>
            <a:prstDash val="solid"/>
          </a:ln>
        </p:spPr>
      </p:sp>
      <p:sp>
        <p:nvSpPr>
          <p:cNvPr id="13" name="Shape 10"/>
          <p:cNvSpPr/>
          <p:nvPr/>
        </p:nvSpPr>
        <p:spPr>
          <a:xfrm>
            <a:off x="4187952" y="2468880"/>
            <a:ext cx="4334256" cy="914400"/>
          </a:xfrm>
          <a:prstGeom prst="roundRect">
            <a:avLst>
              <a:gd name="adj" fmla="val 12500"/>
            </a:avLst>
          </a:prstGeom>
          <a:solidFill>
            <a:srgbClr val="EEEFFE"/>
          </a:solidFill>
          <a:ln/>
        </p:spPr>
      </p:sp>
      <p:sp>
        <p:nvSpPr>
          <p:cNvPr id="14" name="Text 11"/>
          <p:cNvSpPr txBox="1"/>
          <p:nvPr/>
        </p:nvSpPr>
        <p:spPr>
          <a:xfrm>
            <a:off x="4416552" y="257860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Herramientas que le permiten actuar</a:t>
            </a:r>
            <a:endParaRPr lang="en-US" sz="1300" dirty="0"/>
          </a:p>
        </p:txBody>
      </p:sp>
      <p:sp>
        <p:nvSpPr>
          <p:cNvPr id="15" name="Text 12"/>
          <p:cNvSpPr txBox="1"/>
          <p:nvPr/>
        </p:nvSpPr>
        <p:spPr>
          <a:xfrm>
            <a:off x="4416552" y="285292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Abre archivos, cruza líneas, devuelve una planilla.</a:t>
            </a:r>
            <a:endParaRPr lang="en-US" sz="1050" dirty="0"/>
          </a:p>
        </p:txBody>
      </p:sp>
      <p:sp>
        <p:nvSpPr>
          <p:cNvPr id="16" name="Shape 13"/>
          <p:cNvSpPr/>
          <p:nvPr/>
        </p:nvSpPr>
        <p:spPr>
          <a:xfrm>
            <a:off x="3383280" y="4023360"/>
            <a:ext cx="804672" cy="0"/>
          </a:xfrm>
          <a:prstGeom prst="line">
            <a:avLst/>
          </a:prstGeom>
          <a:noFill/>
          <a:ln w="12700">
            <a:solidFill>
              <a:srgbClr val="9E9E9E"/>
            </a:solidFill>
            <a:prstDash val="solid"/>
          </a:ln>
        </p:spPr>
      </p:sp>
      <p:sp>
        <p:nvSpPr>
          <p:cNvPr id="17" name="Shape 14"/>
          <p:cNvSpPr/>
          <p:nvPr/>
        </p:nvSpPr>
        <p:spPr>
          <a:xfrm>
            <a:off x="4187952" y="3566160"/>
            <a:ext cx="4334256" cy="914400"/>
          </a:xfrm>
          <a:prstGeom prst="roundRect">
            <a:avLst>
              <a:gd name="adj" fmla="val 12500"/>
            </a:avLst>
          </a:prstGeom>
          <a:solidFill>
            <a:srgbClr val="EEEFFE"/>
          </a:solidFill>
          <a:ln/>
        </p:spPr>
      </p:sp>
      <p:sp>
        <p:nvSpPr>
          <p:cNvPr id="18" name="Text 15"/>
          <p:cNvSpPr txBox="1"/>
          <p:nvPr/>
        </p:nvSpPr>
        <p:spPr>
          <a:xfrm>
            <a:off x="4416552" y="367588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Un bucle que verifica su propio trabajo</a:t>
            </a:r>
            <a:endParaRPr lang="en-US" sz="1300" dirty="0"/>
          </a:p>
        </p:txBody>
      </p:sp>
      <p:sp>
        <p:nvSpPr>
          <p:cNvPr id="19" name="Text 16"/>
          <p:cNvSpPr txBox="1"/>
          <p:nvPr/>
        </p:nvSpPr>
        <p:spPr>
          <a:xfrm>
            <a:off x="4416552" y="395020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Mira el resultado y repite hasta terminar. Avisa qué no pudo resolver.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Cuanta más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autonomía</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le das, más tiene que importar el permiso</a:t>
            </a:r>
            <a:endParaRPr lang="en-US" sz="1800" dirty="0"/>
          </a:p>
        </p:txBody>
      </p:sp>
      <p:sp>
        <p:nvSpPr>
          <p:cNvPr id="4" name="Shape 1"/>
          <p:cNvSpPr/>
          <p:nvPr/>
        </p:nvSpPr>
        <p:spPr>
          <a:xfrm>
            <a:off x="634594" y="1371600"/>
            <a:ext cx="5532120" cy="530352"/>
          </a:xfrm>
          <a:prstGeom prst="roundRect">
            <a:avLst>
              <a:gd name="adj" fmla="val 21552"/>
            </a:avLst>
          </a:prstGeom>
          <a:solidFill>
            <a:srgbClr val="3333FF"/>
          </a:solidFill>
          <a:ln/>
        </p:spPr>
      </p:sp>
      <p:sp>
        <p:nvSpPr>
          <p:cNvPr id="5" name="Shape 2"/>
          <p:cNvSpPr/>
          <p:nvPr/>
        </p:nvSpPr>
        <p:spPr>
          <a:xfrm>
            <a:off x="726034" y="1463040"/>
            <a:ext cx="347472" cy="347472"/>
          </a:xfrm>
          <a:prstGeom prst="roundRect">
            <a:avLst>
              <a:gd name="adj" fmla="val 50000"/>
            </a:avLst>
          </a:prstGeom>
          <a:solidFill>
            <a:srgbClr val="3333FF"/>
          </a:solidFill>
          <a:ln/>
        </p:spPr>
      </p:sp>
      <p:sp>
        <p:nvSpPr>
          <p:cNvPr id="6" name="Text 3"/>
          <p:cNvSpPr txBox="1"/>
          <p:nvPr/>
        </p:nvSpPr>
        <p:spPr>
          <a:xfrm>
            <a:off x="726034" y="146304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1</a:t>
            </a:r>
            <a:endParaRPr lang="en-US" sz="1400" dirty="0"/>
          </a:p>
        </p:txBody>
      </p:sp>
      <p:sp>
        <p:nvSpPr>
          <p:cNvPr id="7" name="Text 4"/>
          <p:cNvSpPr txBox="1"/>
          <p:nvPr/>
        </p:nvSpPr>
        <p:spPr>
          <a:xfrm>
            <a:off x="1201522" y="1371600"/>
            <a:ext cx="484632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Chat</a:t>
            </a:r>
            <a:endParaRPr lang="en-US" sz="1300" dirty="0"/>
          </a:p>
        </p:txBody>
      </p:sp>
      <p:sp>
        <p:nvSpPr>
          <p:cNvPr id="8" name="Text 5"/>
          <p:cNvSpPr txBox="1"/>
          <p:nvPr/>
        </p:nvSpPr>
        <p:spPr>
          <a:xfrm>
            <a:off x="6355080" y="137160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Yo pregunto y reviso.</a:t>
            </a:r>
            <a:endParaRPr lang="en-US" sz="1050" dirty="0"/>
          </a:p>
        </p:txBody>
      </p:sp>
      <p:sp>
        <p:nvSpPr>
          <p:cNvPr id="9" name="Shape 6"/>
          <p:cNvSpPr/>
          <p:nvPr/>
        </p:nvSpPr>
        <p:spPr>
          <a:xfrm>
            <a:off x="634594" y="1965960"/>
            <a:ext cx="5166360" cy="530352"/>
          </a:xfrm>
          <a:prstGeom prst="roundRect">
            <a:avLst>
              <a:gd name="adj" fmla="val 21552"/>
            </a:avLst>
          </a:prstGeom>
          <a:solidFill>
            <a:srgbClr val="3333FF"/>
          </a:solidFill>
          <a:ln/>
        </p:spPr>
      </p:sp>
      <p:sp>
        <p:nvSpPr>
          <p:cNvPr id="10" name="Shape 7"/>
          <p:cNvSpPr/>
          <p:nvPr/>
        </p:nvSpPr>
        <p:spPr>
          <a:xfrm>
            <a:off x="726034" y="2057400"/>
            <a:ext cx="347472" cy="347472"/>
          </a:xfrm>
          <a:prstGeom prst="roundRect">
            <a:avLst>
              <a:gd name="adj" fmla="val 50000"/>
            </a:avLst>
          </a:prstGeom>
          <a:solidFill>
            <a:srgbClr val="3333FF"/>
          </a:solidFill>
          <a:ln/>
        </p:spPr>
      </p:sp>
      <p:sp>
        <p:nvSpPr>
          <p:cNvPr id="11" name="Text 8"/>
          <p:cNvSpPr txBox="1"/>
          <p:nvPr/>
        </p:nvSpPr>
        <p:spPr>
          <a:xfrm>
            <a:off x="726034" y="205740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2</a:t>
            </a:r>
            <a:endParaRPr lang="en-US" sz="1400" dirty="0"/>
          </a:p>
        </p:txBody>
      </p:sp>
      <p:sp>
        <p:nvSpPr>
          <p:cNvPr id="12" name="Text 9"/>
          <p:cNvSpPr txBox="1"/>
          <p:nvPr/>
        </p:nvSpPr>
        <p:spPr>
          <a:xfrm>
            <a:off x="1201522" y="1965960"/>
            <a:ext cx="448056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Cowork</a:t>
            </a:r>
            <a:endParaRPr lang="en-US" sz="1300" dirty="0"/>
          </a:p>
        </p:txBody>
      </p:sp>
      <p:sp>
        <p:nvSpPr>
          <p:cNvPr id="13" name="Text 10"/>
          <p:cNvSpPr txBox="1"/>
          <p:nvPr/>
        </p:nvSpPr>
        <p:spPr>
          <a:xfrm>
            <a:off x="6355080" y="196596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Claude trabaja sobre archivos y apps con mi aprobación.</a:t>
            </a:r>
            <a:endParaRPr lang="en-US" sz="1050" dirty="0"/>
          </a:p>
        </p:txBody>
      </p:sp>
      <p:sp>
        <p:nvSpPr>
          <p:cNvPr id="14" name="Shape 11"/>
          <p:cNvSpPr/>
          <p:nvPr/>
        </p:nvSpPr>
        <p:spPr>
          <a:xfrm>
            <a:off x="634594" y="2560320"/>
            <a:ext cx="4800600" cy="530352"/>
          </a:xfrm>
          <a:prstGeom prst="roundRect">
            <a:avLst>
              <a:gd name="adj" fmla="val 21552"/>
            </a:avLst>
          </a:prstGeom>
          <a:solidFill>
            <a:srgbClr val="3333FF"/>
          </a:solidFill>
          <a:ln/>
        </p:spPr>
      </p:sp>
      <p:sp>
        <p:nvSpPr>
          <p:cNvPr id="15" name="Shape 12"/>
          <p:cNvSpPr/>
          <p:nvPr/>
        </p:nvSpPr>
        <p:spPr>
          <a:xfrm>
            <a:off x="726034" y="2651760"/>
            <a:ext cx="347472" cy="347472"/>
          </a:xfrm>
          <a:prstGeom prst="roundRect">
            <a:avLst>
              <a:gd name="adj" fmla="val 50000"/>
            </a:avLst>
          </a:prstGeom>
          <a:solidFill>
            <a:srgbClr val="3333FF"/>
          </a:solidFill>
          <a:ln/>
        </p:spPr>
      </p:sp>
      <p:sp>
        <p:nvSpPr>
          <p:cNvPr id="16" name="Text 13"/>
          <p:cNvSpPr txBox="1"/>
          <p:nvPr/>
        </p:nvSpPr>
        <p:spPr>
          <a:xfrm>
            <a:off x="726034" y="265176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3</a:t>
            </a:r>
            <a:endParaRPr lang="en-US" sz="1400" dirty="0"/>
          </a:p>
        </p:txBody>
      </p:sp>
      <p:sp>
        <p:nvSpPr>
          <p:cNvPr id="17" name="Text 14"/>
          <p:cNvSpPr txBox="1"/>
          <p:nvPr/>
        </p:nvSpPr>
        <p:spPr>
          <a:xfrm>
            <a:off x="1201522" y="2560320"/>
            <a:ext cx="411480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Tareas programadas</a:t>
            </a:r>
            <a:endParaRPr lang="en-US" sz="1300" dirty="0"/>
          </a:p>
        </p:txBody>
      </p:sp>
      <p:sp>
        <p:nvSpPr>
          <p:cNvPr id="18" name="Text 15"/>
          <p:cNvSpPr txBox="1"/>
          <p:nvPr/>
        </p:nvSpPr>
        <p:spPr>
          <a:xfrm>
            <a:off x="6355080" y="256032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Claude corre solo en un horario.</a:t>
            </a:r>
            <a:endParaRPr lang="en-US" sz="1050" dirty="0"/>
          </a:p>
        </p:txBody>
      </p:sp>
      <p:sp>
        <p:nvSpPr>
          <p:cNvPr id="19" name="Shape 16"/>
          <p:cNvSpPr/>
          <p:nvPr/>
        </p:nvSpPr>
        <p:spPr>
          <a:xfrm>
            <a:off x="634594" y="3154680"/>
            <a:ext cx="4434840" cy="530352"/>
          </a:xfrm>
          <a:prstGeom prst="roundRect">
            <a:avLst>
              <a:gd name="adj" fmla="val 21552"/>
            </a:avLst>
          </a:prstGeom>
          <a:solidFill>
            <a:srgbClr val="3333FF"/>
          </a:solidFill>
          <a:ln/>
        </p:spPr>
      </p:sp>
      <p:sp>
        <p:nvSpPr>
          <p:cNvPr id="20" name="Shape 17"/>
          <p:cNvSpPr/>
          <p:nvPr/>
        </p:nvSpPr>
        <p:spPr>
          <a:xfrm>
            <a:off x="726034" y="3246120"/>
            <a:ext cx="347472" cy="347472"/>
          </a:xfrm>
          <a:prstGeom prst="roundRect">
            <a:avLst>
              <a:gd name="adj" fmla="val 50000"/>
            </a:avLst>
          </a:prstGeom>
          <a:solidFill>
            <a:srgbClr val="3333FF"/>
          </a:solidFill>
          <a:ln/>
        </p:spPr>
      </p:sp>
      <p:sp>
        <p:nvSpPr>
          <p:cNvPr id="21" name="Text 18"/>
          <p:cNvSpPr txBox="1"/>
          <p:nvPr/>
        </p:nvSpPr>
        <p:spPr>
          <a:xfrm>
            <a:off x="726034" y="324612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4</a:t>
            </a:r>
            <a:endParaRPr lang="en-US" sz="1400" dirty="0"/>
          </a:p>
        </p:txBody>
      </p:sp>
      <p:sp>
        <p:nvSpPr>
          <p:cNvPr id="22" name="Text 19"/>
          <p:cNvSpPr txBox="1"/>
          <p:nvPr/>
        </p:nvSpPr>
        <p:spPr>
          <a:xfrm>
            <a:off x="1201522" y="3154680"/>
            <a:ext cx="374904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Dispatch</a:t>
            </a:r>
            <a:endParaRPr lang="en-US" sz="1300" dirty="0"/>
          </a:p>
        </p:txBody>
      </p:sp>
      <p:sp>
        <p:nvSpPr>
          <p:cNvPr id="23" name="Text 20"/>
          <p:cNvSpPr txBox="1"/>
          <p:nvPr/>
        </p:nvSpPr>
        <p:spPr>
          <a:xfrm>
            <a:off x="6355080" y="315468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Mando la tarea desde el celular.</a:t>
            </a:r>
            <a:endParaRPr lang="en-US" sz="1050" dirty="0"/>
          </a:p>
        </p:txBody>
      </p:sp>
      <p:sp>
        <p:nvSpPr>
          <p:cNvPr id="24" name="Shape 21"/>
          <p:cNvSpPr/>
          <p:nvPr/>
        </p:nvSpPr>
        <p:spPr>
          <a:xfrm>
            <a:off x="634594" y="3931920"/>
            <a:ext cx="7887614" cy="594360"/>
          </a:xfrm>
          <a:prstGeom prst="roundRect">
            <a:avLst>
              <a:gd name="adj" fmla="val 19231"/>
            </a:avLst>
          </a:prstGeom>
          <a:solidFill>
            <a:srgbClr val="EEEFFE"/>
          </a:solidFill>
          <a:ln/>
        </p:spPr>
      </p:sp>
      <p:sp>
        <p:nvSpPr>
          <p:cNvPr id="25" name="Text 22"/>
          <p:cNvSpPr txBox="1"/>
          <p:nvPr/>
        </p:nvSpPr>
        <p:spPr>
          <a:xfrm>
            <a:off x="863194" y="393192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Lectura sin fricción, escritura con aprobación.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02</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Contexto</a:t>
            </a:r>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 y proyectos</a:t>
            </a:r>
            <a:endParaRPr lang="en-US" sz="4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Proyecto</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evita explicar lo mismo en cada conversación</a:t>
            </a:r>
            <a:endParaRPr lang="en-US" sz="1800" dirty="0"/>
          </a:p>
        </p:txBody>
      </p:sp>
      <p:sp>
        <p:nvSpPr>
          <p:cNvPr id="4" name="Shape 1"/>
          <p:cNvSpPr/>
          <p:nvPr/>
        </p:nvSpPr>
        <p:spPr>
          <a:xfrm>
            <a:off x="634594" y="1371600"/>
            <a:ext cx="3108960" cy="3017520"/>
          </a:xfrm>
          <a:prstGeom prst="roundRect">
            <a:avLst>
              <a:gd name="adj" fmla="val 3788"/>
            </a:avLst>
          </a:prstGeom>
          <a:solidFill>
            <a:srgbClr val="3333FF"/>
          </a:solidFill>
          <a:ln/>
        </p:spPr>
      </p:sp>
      <p:sp>
        <p:nvSpPr>
          <p:cNvPr id="5" name="Text 2"/>
          <p:cNvSpPr txBox="1"/>
          <p:nvPr/>
        </p:nvSpPr>
        <p:spPr>
          <a:xfrm>
            <a:off x="908914" y="1645920"/>
            <a:ext cx="2560320" cy="1463040"/>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DM Sans SemiBold" pitchFamily="34" charset="0"/>
                <a:ea typeface="DM Sans SemiBold" pitchFamily="34" charset="-122"/>
                <a:cs typeface="DM Sans SemiBold" pitchFamily="34" charset="-120"/>
              </a:rPr>
              <a:t>El contexto se carga una vez y se reutiliza.</a:t>
            </a:r>
            <a:endParaRPr lang="en-US" sz="1600" dirty="0"/>
          </a:p>
        </p:txBody>
      </p:sp>
      <p:sp>
        <p:nvSpPr>
          <p:cNvPr id="6" name="Text 3"/>
          <p:cNvSpPr txBox="1"/>
          <p:nvPr/>
        </p:nvSpPr>
        <p:spPr>
          <a:xfrm>
            <a:off x="908914" y="3200400"/>
            <a:ext cx="2560320" cy="1005840"/>
          </a:xfrm>
          <a:prstGeom prst="rect">
            <a:avLst/>
          </a:prstGeom>
          <a:noFill/>
          <a:ln/>
        </p:spPr>
        <p:txBody>
          <a:bodyPr wrap="square" lIns="0" tIns="0" rIns="0" bIns="0" rtlCol="0" anchor="b"/>
          <a:lstStyle/>
          <a:p>
            <a:pPr algn="l" indent="0" marL="0">
              <a:lnSpc>
                <a:spcPct val="100000"/>
              </a:lnSpc>
              <a:buNone/>
            </a:pPr>
            <a:r>
              <a:rPr lang="en-US" sz="1050" dirty="0">
                <a:solidFill>
                  <a:srgbClr val="FFFFFF"/>
                </a:solidFill>
                <a:latin typeface="DM Sans" pitchFamily="34" charset="0"/>
                <a:ea typeface="DM Sans" pitchFamily="34" charset="-122"/>
                <a:cs typeface="DM Sans" pitchFamily="34" charset="-120"/>
              </a:rPr>
              <a:t>Ejemplos: Cierre mensual · Pagos a proveedores · Análisis de costos</a:t>
            </a:r>
            <a:endParaRPr lang="en-US" sz="1050" dirty="0"/>
          </a:p>
        </p:txBody>
      </p:sp>
      <p:sp>
        <p:nvSpPr>
          <p:cNvPr id="7" name="Text 4"/>
          <p:cNvSpPr txBox="1"/>
          <p:nvPr/>
        </p:nvSpPr>
        <p:spPr>
          <a:xfrm>
            <a:off x="4023360" y="155448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Instrucciones</a:t>
            </a:r>
            <a:endParaRPr lang="en-US" sz="1250" dirty="0"/>
          </a:p>
        </p:txBody>
      </p:sp>
      <p:sp>
        <p:nvSpPr>
          <p:cNvPr id="8" name="Text 5"/>
          <p:cNvSpPr txBox="1"/>
          <p:nvPr/>
        </p:nvSpPr>
        <p:spPr>
          <a:xfrm>
            <a:off x="4023360" y="184708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Cómo se cierra el mes, qué cuentas se usan, qué formato quiere la gerencia.</a:t>
            </a:r>
            <a:endParaRPr lang="en-US" sz="1050" dirty="0"/>
          </a:p>
        </p:txBody>
      </p:sp>
      <p:sp>
        <p:nvSpPr>
          <p:cNvPr id="9" name="Shape 6"/>
          <p:cNvSpPr/>
          <p:nvPr/>
        </p:nvSpPr>
        <p:spPr>
          <a:xfrm>
            <a:off x="4023360" y="2377440"/>
            <a:ext cx="4498848" cy="0"/>
          </a:xfrm>
          <a:prstGeom prst="line">
            <a:avLst/>
          </a:prstGeom>
          <a:noFill/>
          <a:ln w="12700">
            <a:solidFill>
              <a:srgbClr val="E4E4E4"/>
            </a:solidFill>
            <a:prstDash val="solid"/>
          </a:ln>
        </p:spPr>
      </p:sp>
      <p:sp>
        <p:nvSpPr>
          <p:cNvPr id="10" name="Text 7"/>
          <p:cNvSpPr txBox="1"/>
          <p:nvPr/>
        </p:nvSpPr>
        <p:spPr>
          <a:xfrm>
            <a:off x="4023360" y="256032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Archivos de referencia</a:t>
            </a:r>
            <a:endParaRPr lang="en-US" sz="1250" dirty="0"/>
          </a:p>
        </p:txBody>
      </p:sp>
      <p:sp>
        <p:nvSpPr>
          <p:cNvPr id="11" name="Text 8"/>
          <p:cNvSpPr txBox="1"/>
          <p:nvPr/>
        </p:nvSpPr>
        <p:spPr>
          <a:xfrm>
            <a:off x="4023360" y="285292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El material que Claude consulta en cada conversación del Proyecto.</a:t>
            </a:r>
            <a:endParaRPr lang="en-US" sz="1050" dirty="0"/>
          </a:p>
        </p:txBody>
      </p:sp>
      <p:sp>
        <p:nvSpPr>
          <p:cNvPr id="12" name="Shape 9"/>
          <p:cNvSpPr/>
          <p:nvPr/>
        </p:nvSpPr>
        <p:spPr>
          <a:xfrm>
            <a:off x="4023360" y="3383280"/>
            <a:ext cx="4498848" cy="0"/>
          </a:xfrm>
          <a:prstGeom prst="line">
            <a:avLst/>
          </a:prstGeom>
          <a:noFill/>
          <a:ln w="12700">
            <a:solidFill>
              <a:srgbClr val="E4E4E4"/>
            </a:solidFill>
            <a:prstDash val="solid"/>
          </a:ln>
        </p:spPr>
      </p:sp>
      <p:sp>
        <p:nvSpPr>
          <p:cNvPr id="13" name="Text 10"/>
          <p:cNvSpPr txBox="1"/>
          <p:nvPr/>
        </p:nvSpPr>
        <p:spPr>
          <a:xfrm>
            <a:off x="4023360" y="356616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Conversaciones agrupadas</a:t>
            </a:r>
            <a:endParaRPr lang="en-US" sz="1250" dirty="0"/>
          </a:p>
        </p:txBody>
      </p:sp>
      <p:sp>
        <p:nvSpPr>
          <p:cNvPr id="14" name="Text 11"/>
          <p:cNvSpPr txBox="1"/>
          <p:nvPr/>
        </p:nvSpPr>
        <p:spPr>
          <a:xfrm>
            <a:off x="4023360" y="385876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Todo lo de un proceso en un solo lugar, sin mezclar temas.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El contexto tiene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tres capas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preferencias, proyectos y skills</a:t>
            </a:r>
            <a:endParaRPr lang="en-US" sz="1800" dirty="0"/>
          </a:p>
        </p:txBody>
      </p:sp>
      <p:sp>
        <p:nvSpPr>
          <p:cNvPr id="4" name="Shape 1"/>
          <p:cNvSpPr/>
          <p:nvPr/>
        </p:nvSpPr>
        <p:spPr>
          <a:xfrm>
            <a:off x="634594" y="1371600"/>
            <a:ext cx="2468880" cy="2286000"/>
          </a:xfrm>
          <a:prstGeom prst="roundRect">
            <a:avLst>
              <a:gd name="adj" fmla="val 5000"/>
            </a:avLst>
          </a:prstGeom>
          <a:solidFill>
            <a:srgbClr val="EEEFFE"/>
          </a:solidFill>
          <a:ln/>
        </p:spPr>
      </p:sp>
      <p:sp>
        <p:nvSpPr>
          <p:cNvPr id="5" name="Shape 2"/>
          <p:cNvSpPr/>
          <p:nvPr/>
        </p:nvSpPr>
        <p:spPr>
          <a:xfrm>
            <a:off x="817474" y="1600200"/>
            <a:ext cx="420624" cy="420624"/>
          </a:xfrm>
          <a:prstGeom prst="roundRect">
            <a:avLst>
              <a:gd name="adj" fmla="val 50000"/>
            </a:avLst>
          </a:prstGeom>
          <a:solidFill>
            <a:srgbClr val="3333FF"/>
          </a:solidFill>
          <a:ln/>
        </p:spPr>
      </p:sp>
      <p:sp>
        <p:nvSpPr>
          <p:cNvPr id="6" name="Text 3"/>
          <p:cNvSpPr txBox="1"/>
          <p:nvPr/>
        </p:nvSpPr>
        <p:spPr>
          <a:xfrm>
            <a:off x="81747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1</a:t>
            </a:r>
            <a:endParaRPr lang="en-US" sz="2000" dirty="0"/>
          </a:p>
        </p:txBody>
      </p:sp>
      <p:sp>
        <p:nvSpPr>
          <p:cNvPr id="7" name="Text 4"/>
          <p:cNvSpPr txBox="1"/>
          <p:nvPr/>
        </p:nvSpPr>
        <p:spPr>
          <a:xfrm>
            <a:off x="817474" y="2203704"/>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Preferencias</a:t>
            </a:r>
            <a:endParaRPr lang="en-US" sz="1400" dirty="0"/>
          </a:p>
        </p:txBody>
      </p:sp>
      <p:sp>
        <p:nvSpPr>
          <p:cNvPr id="8" name="Text 5"/>
          <p:cNvSpPr txBox="1"/>
          <p:nvPr/>
        </p:nvSpPr>
        <p:spPr>
          <a:xfrm>
            <a:off x="817474" y="2569464"/>
            <a:ext cx="210312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Globales. Cómo quiero que me responda siempre: formato, idioma, nivel de detalle.</a:t>
            </a:r>
            <a:endParaRPr lang="en-US" sz="1200" dirty="0"/>
          </a:p>
        </p:txBody>
      </p:sp>
      <p:sp>
        <p:nvSpPr>
          <p:cNvPr id="9" name="Shape 6"/>
          <p:cNvSpPr/>
          <p:nvPr/>
        </p:nvSpPr>
        <p:spPr>
          <a:xfrm>
            <a:off x="3332074" y="1371600"/>
            <a:ext cx="2468880" cy="2286000"/>
          </a:xfrm>
          <a:prstGeom prst="roundRect">
            <a:avLst>
              <a:gd name="adj" fmla="val 5000"/>
            </a:avLst>
          </a:prstGeom>
          <a:solidFill>
            <a:srgbClr val="EEEFFE"/>
          </a:solidFill>
          <a:ln/>
        </p:spPr>
      </p:sp>
      <p:sp>
        <p:nvSpPr>
          <p:cNvPr id="10" name="Shape 7"/>
          <p:cNvSpPr/>
          <p:nvPr/>
        </p:nvSpPr>
        <p:spPr>
          <a:xfrm>
            <a:off x="3514954" y="1600200"/>
            <a:ext cx="420624" cy="420624"/>
          </a:xfrm>
          <a:prstGeom prst="roundRect">
            <a:avLst>
              <a:gd name="adj" fmla="val 50000"/>
            </a:avLst>
          </a:prstGeom>
          <a:solidFill>
            <a:srgbClr val="3333FF"/>
          </a:solidFill>
          <a:ln/>
        </p:spPr>
      </p:sp>
      <p:sp>
        <p:nvSpPr>
          <p:cNvPr id="11" name="Text 8"/>
          <p:cNvSpPr txBox="1"/>
          <p:nvPr/>
        </p:nvSpPr>
        <p:spPr>
          <a:xfrm>
            <a:off x="351495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2</a:t>
            </a:r>
            <a:endParaRPr lang="en-US" sz="2000" dirty="0"/>
          </a:p>
        </p:txBody>
      </p:sp>
      <p:sp>
        <p:nvSpPr>
          <p:cNvPr id="12" name="Text 9"/>
          <p:cNvSpPr txBox="1"/>
          <p:nvPr/>
        </p:nvSpPr>
        <p:spPr>
          <a:xfrm>
            <a:off x="3514954" y="2203704"/>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Proyectos</a:t>
            </a:r>
            <a:endParaRPr lang="en-US" sz="1400" dirty="0"/>
          </a:p>
        </p:txBody>
      </p:sp>
      <p:sp>
        <p:nvSpPr>
          <p:cNvPr id="13" name="Text 10"/>
          <p:cNvSpPr txBox="1"/>
          <p:nvPr/>
        </p:nvSpPr>
        <p:spPr>
          <a:xfrm>
            <a:off x="3514954" y="2569464"/>
            <a:ext cx="210312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Por tema. La información de un área o de un proceso.</a:t>
            </a:r>
            <a:endParaRPr lang="en-US" sz="1200" dirty="0"/>
          </a:p>
        </p:txBody>
      </p:sp>
      <p:sp>
        <p:nvSpPr>
          <p:cNvPr id="14" name="Shape 11"/>
          <p:cNvSpPr/>
          <p:nvPr/>
        </p:nvSpPr>
        <p:spPr>
          <a:xfrm>
            <a:off x="6029554" y="1371600"/>
            <a:ext cx="2468880" cy="2286000"/>
          </a:xfrm>
          <a:prstGeom prst="roundRect">
            <a:avLst>
              <a:gd name="adj" fmla="val 5000"/>
            </a:avLst>
          </a:prstGeom>
          <a:solidFill>
            <a:srgbClr val="EEEFFE"/>
          </a:solidFill>
          <a:ln/>
        </p:spPr>
      </p:sp>
      <p:sp>
        <p:nvSpPr>
          <p:cNvPr id="15" name="Shape 12"/>
          <p:cNvSpPr/>
          <p:nvPr/>
        </p:nvSpPr>
        <p:spPr>
          <a:xfrm>
            <a:off x="6212434" y="1600200"/>
            <a:ext cx="420624" cy="420624"/>
          </a:xfrm>
          <a:prstGeom prst="roundRect">
            <a:avLst>
              <a:gd name="adj" fmla="val 50000"/>
            </a:avLst>
          </a:prstGeom>
          <a:solidFill>
            <a:srgbClr val="3333FF"/>
          </a:solidFill>
          <a:ln/>
        </p:spPr>
      </p:sp>
      <p:sp>
        <p:nvSpPr>
          <p:cNvPr id="16" name="Text 13"/>
          <p:cNvSpPr txBox="1"/>
          <p:nvPr/>
        </p:nvSpPr>
        <p:spPr>
          <a:xfrm>
            <a:off x="621243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3</a:t>
            </a:r>
            <a:endParaRPr lang="en-US" sz="2000" dirty="0"/>
          </a:p>
        </p:txBody>
      </p:sp>
      <p:sp>
        <p:nvSpPr>
          <p:cNvPr id="17" name="Text 14"/>
          <p:cNvSpPr txBox="1"/>
          <p:nvPr/>
        </p:nvSpPr>
        <p:spPr>
          <a:xfrm>
            <a:off x="6212434" y="2203704"/>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Skills</a:t>
            </a:r>
            <a:endParaRPr lang="en-US" sz="1400" dirty="0"/>
          </a:p>
        </p:txBody>
      </p:sp>
      <p:sp>
        <p:nvSpPr>
          <p:cNvPr id="18" name="Text 15"/>
          <p:cNvSpPr txBox="1"/>
          <p:nvPr/>
        </p:nvSpPr>
        <p:spPr>
          <a:xfrm>
            <a:off x="6212434" y="2569464"/>
            <a:ext cx="210312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Por procedimiento. Los pasos que Claude sigue cuando la tarea coincide.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03</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Skills</a:t>
            </a:r>
            <a:endParaRPr lang="en-US" sz="4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1554480"/>
            <a:ext cx="7132320" cy="2011680"/>
          </a:xfrm>
          <a:prstGeom prst="rect">
            <a:avLst/>
          </a:prstGeom>
          <a:noFill/>
          <a:ln/>
        </p:spPr>
        <p:txBody>
          <a:bodyPr wrap="square" lIns="0" tIns="0" rIns="0" bIns="0" rtlCol="0" anchor="ctr"/>
          <a:lstStyle/>
          <a:p>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Una </a:t>
            </a:r>
            <a:pPr algn="l" indent="0" marL="0">
              <a:lnSpc>
                <a:spcPct val="105000"/>
              </a:lnSpc>
              <a:buNone/>
            </a:pPr>
            <a:r>
              <a:rPr lang="en-US" sz="3200" dirty="0">
                <a:solidFill>
                  <a:srgbClr val="3333FF"/>
                </a:solidFill>
                <a:latin typeface="Gloock" pitchFamily="34" charset="0"/>
                <a:ea typeface="Gloock" pitchFamily="34" charset="-122"/>
                <a:cs typeface="Gloock" pitchFamily="34" charset="-120"/>
              </a:rPr>
              <a:t>skill</a:t>
            </a:r>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 es un procedimiento que Claude carga solo cuando hace falta</a:t>
            </a:r>
            <a:endParaRPr lang="en-US" sz="3200" dirty="0"/>
          </a:p>
        </p:txBody>
      </p:sp>
      <p:sp>
        <p:nvSpPr>
          <p:cNvPr id="3" name="Text 1"/>
          <p:cNvSpPr txBox="1"/>
          <p:nvPr/>
        </p:nvSpPr>
        <p:spPr>
          <a:xfrm>
            <a:off x="634594" y="3749040"/>
            <a:ext cx="7132320" cy="868680"/>
          </a:xfrm>
          <a:prstGeom prst="rect">
            <a:avLst/>
          </a:prstGeom>
          <a:noFill/>
          <a:ln/>
        </p:spPr>
        <p:txBody>
          <a:bodyPr wrap="square" lIns="0" tIns="0" rIns="0" bIns="0" rtlCol="0" anchor="t"/>
          <a:lstStyle/>
          <a:p>
            <a:pPr algn="l" indent="0" marL="0">
              <a:lnSpc>
                <a:spcPct val="100000"/>
              </a:lnSpc>
              <a:spcAft>
                <a:spcPts val="200"/>
              </a:spcAft>
              <a:buNone/>
            </a:pPr>
            <a:r>
              <a:rPr lang="en-US" sz="1300" dirty="0">
                <a:solidFill>
                  <a:srgbClr val="333333"/>
                </a:solidFill>
                <a:latin typeface="DM Sans" pitchFamily="34" charset="0"/>
                <a:ea typeface="DM Sans" pitchFamily="34" charset="-122"/>
                <a:cs typeface="DM Sans" pitchFamily="34" charset="-120"/>
              </a:rPr>
              <a:t>Claude lee primero una descripción corta. Solo si la tarea coincide, carga el detalle completo.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Una skill es una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carpeta</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con un archivo SKILL.md</a:t>
            </a:r>
            <a:endParaRPr lang="en-US" sz="1800" dirty="0"/>
          </a:p>
        </p:txBody>
      </p:sp>
      <p:sp>
        <p:nvSpPr>
          <p:cNvPr id="4" name="Shape 1"/>
          <p:cNvSpPr/>
          <p:nvPr/>
        </p:nvSpPr>
        <p:spPr>
          <a:xfrm>
            <a:off x="634594" y="2514600"/>
            <a:ext cx="2011680" cy="822960"/>
          </a:xfrm>
          <a:prstGeom prst="roundRect">
            <a:avLst>
              <a:gd name="adj" fmla="val 13889"/>
            </a:avLst>
          </a:prstGeom>
          <a:solidFill>
            <a:srgbClr val="3333FF"/>
          </a:solidFill>
          <a:ln/>
        </p:spPr>
      </p:sp>
      <p:sp>
        <p:nvSpPr>
          <p:cNvPr id="5" name="Text 2"/>
          <p:cNvSpPr txBox="1"/>
          <p:nvPr/>
        </p:nvSpPr>
        <p:spPr>
          <a:xfrm>
            <a:off x="771754" y="2514600"/>
            <a:ext cx="1737360" cy="822960"/>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Carpeta de la skill</a:t>
            </a:r>
            <a:endParaRPr lang="en-US" sz="1400" dirty="0"/>
          </a:p>
        </p:txBody>
      </p:sp>
      <p:sp>
        <p:nvSpPr>
          <p:cNvPr id="6" name="Shape 3"/>
          <p:cNvSpPr/>
          <p:nvPr/>
        </p:nvSpPr>
        <p:spPr>
          <a:xfrm>
            <a:off x="2646274" y="2926080"/>
            <a:ext cx="737006" cy="0"/>
          </a:xfrm>
          <a:prstGeom prst="line">
            <a:avLst/>
          </a:prstGeom>
          <a:noFill/>
          <a:ln w="12700">
            <a:solidFill>
              <a:srgbClr val="9E9E9E"/>
            </a:solidFill>
            <a:prstDash val="solid"/>
          </a:ln>
        </p:spPr>
      </p:sp>
      <p:sp>
        <p:nvSpPr>
          <p:cNvPr id="7" name="Shape 4"/>
          <p:cNvSpPr/>
          <p:nvPr/>
        </p:nvSpPr>
        <p:spPr>
          <a:xfrm>
            <a:off x="3383280" y="1828800"/>
            <a:ext cx="0" cy="2194560"/>
          </a:xfrm>
          <a:prstGeom prst="line">
            <a:avLst/>
          </a:prstGeom>
          <a:noFill/>
          <a:ln w="12700">
            <a:solidFill>
              <a:srgbClr val="9E9E9E"/>
            </a:solidFill>
            <a:prstDash val="solid"/>
          </a:ln>
        </p:spPr>
      </p:sp>
      <p:sp>
        <p:nvSpPr>
          <p:cNvPr id="8" name="Shape 5"/>
          <p:cNvSpPr/>
          <p:nvPr/>
        </p:nvSpPr>
        <p:spPr>
          <a:xfrm>
            <a:off x="3383280" y="1828800"/>
            <a:ext cx="804672" cy="0"/>
          </a:xfrm>
          <a:prstGeom prst="line">
            <a:avLst/>
          </a:prstGeom>
          <a:noFill/>
          <a:ln w="12700">
            <a:solidFill>
              <a:srgbClr val="9E9E9E"/>
            </a:solidFill>
            <a:prstDash val="solid"/>
          </a:ln>
        </p:spPr>
      </p:sp>
      <p:sp>
        <p:nvSpPr>
          <p:cNvPr id="9" name="Shape 6"/>
          <p:cNvSpPr/>
          <p:nvPr/>
        </p:nvSpPr>
        <p:spPr>
          <a:xfrm>
            <a:off x="4187952" y="1371600"/>
            <a:ext cx="4334256" cy="914400"/>
          </a:xfrm>
          <a:prstGeom prst="roundRect">
            <a:avLst>
              <a:gd name="adj" fmla="val 12500"/>
            </a:avLst>
          </a:prstGeom>
          <a:solidFill>
            <a:srgbClr val="EEEFFE"/>
          </a:solidFill>
          <a:ln/>
        </p:spPr>
      </p:sp>
      <p:sp>
        <p:nvSpPr>
          <p:cNvPr id="10" name="Text 7"/>
          <p:cNvSpPr txBox="1"/>
          <p:nvPr/>
        </p:nvSpPr>
        <p:spPr>
          <a:xfrm>
            <a:off x="4416552" y="148132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SKILL.md</a:t>
            </a:r>
            <a:endParaRPr lang="en-US" sz="1300" dirty="0"/>
          </a:p>
        </p:txBody>
      </p:sp>
      <p:sp>
        <p:nvSpPr>
          <p:cNvPr id="11" name="Text 8"/>
          <p:cNvSpPr txBox="1"/>
          <p:nvPr/>
        </p:nvSpPr>
        <p:spPr>
          <a:xfrm>
            <a:off x="4416552" y="175564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Nombre, descripción e instrucciones. La descripción se lee siempre; las instrucciones, al activarse.</a:t>
            </a:r>
            <a:endParaRPr lang="en-US" sz="1050" dirty="0"/>
          </a:p>
        </p:txBody>
      </p:sp>
      <p:sp>
        <p:nvSpPr>
          <p:cNvPr id="12" name="Shape 9"/>
          <p:cNvSpPr/>
          <p:nvPr/>
        </p:nvSpPr>
        <p:spPr>
          <a:xfrm>
            <a:off x="3383280" y="2926080"/>
            <a:ext cx="804672" cy="0"/>
          </a:xfrm>
          <a:prstGeom prst="line">
            <a:avLst/>
          </a:prstGeom>
          <a:noFill/>
          <a:ln w="12700">
            <a:solidFill>
              <a:srgbClr val="9E9E9E"/>
            </a:solidFill>
            <a:prstDash val="solid"/>
          </a:ln>
        </p:spPr>
      </p:sp>
      <p:sp>
        <p:nvSpPr>
          <p:cNvPr id="13" name="Shape 10"/>
          <p:cNvSpPr/>
          <p:nvPr/>
        </p:nvSpPr>
        <p:spPr>
          <a:xfrm>
            <a:off x="4187952" y="2468880"/>
            <a:ext cx="4334256" cy="914400"/>
          </a:xfrm>
          <a:prstGeom prst="roundRect">
            <a:avLst>
              <a:gd name="adj" fmla="val 12500"/>
            </a:avLst>
          </a:prstGeom>
          <a:solidFill>
            <a:srgbClr val="EEEFFE"/>
          </a:solidFill>
          <a:ln/>
        </p:spPr>
      </p:sp>
      <p:sp>
        <p:nvSpPr>
          <p:cNvPr id="14" name="Text 11"/>
          <p:cNvSpPr txBox="1"/>
          <p:nvPr/>
        </p:nvSpPr>
        <p:spPr>
          <a:xfrm>
            <a:off x="4416552" y="257860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Scripts y plantillas (opcional)</a:t>
            </a:r>
            <a:endParaRPr lang="en-US" sz="1300" dirty="0"/>
          </a:p>
        </p:txBody>
      </p:sp>
      <p:sp>
        <p:nvSpPr>
          <p:cNvPr id="15" name="Text 12"/>
          <p:cNvSpPr txBox="1"/>
          <p:nvPr/>
        </p:nvSpPr>
        <p:spPr>
          <a:xfrm>
            <a:off x="4416552" y="285292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Se cargan solo si hacen falta.</a:t>
            </a:r>
            <a:endParaRPr lang="en-US" sz="1050" dirty="0"/>
          </a:p>
        </p:txBody>
      </p:sp>
      <p:sp>
        <p:nvSpPr>
          <p:cNvPr id="16" name="Shape 13"/>
          <p:cNvSpPr/>
          <p:nvPr/>
        </p:nvSpPr>
        <p:spPr>
          <a:xfrm>
            <a:off x="3383280" y="4023360"/>
            <a:ext cx="804672" cy="0"/>
          </a:xfrm>
          <a:prstGeom prst="line">
            <a:avLst/>
          </a:prstGeom>
          <a:noFill/>
          <a:ln w="12700">
            <a:solidFill>
              <a:srgbClr val="9E9E9E"/>
            </a:solidFill>
            <a:prstDash val="solid"/>
          </a:ln>
        </p:spPr>
      </p:sp>
      <p:sp>
        <p:nvSpPr>
          <p:cNvPr id="17" name="Shape 14"/>
          <p:cNvSpPr/>
          <p:nvPr/>
        </p:nvSpPr>
        <p:spPr>
          <a:xfrm>
            <a:off x="4187952" y="3566160"/>
            <a:ext cx="4334256" cy="914400"/>
          </a:xfrm>
          <a:prstGeom prst="roundRect">
            <a:avLst>
              <a:gd name="adj" fmla="val 12500"/>
            </a:avLst>
          </a:prstGeom>
          <a:solidFill>
            <a:srgbClr val="EEEFFE"/>
          </a:solidFill>
          <a:ln/>
        </p:spPr>
      </p:sp>
      <p:sp>
        <p:nvSpPr>
          <p:cNvPr id="18" name="Text 15"/>
          <p:cNvSpPr txBox="1"/>
          <p:nvPr/>
        </p:nvSpPr>
        <p:spPr>
          <a:xfrm>
            <a:off x="4416552" y="367588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Archivos de referencia (opcional)</a:t>
            </a:r>
            <a:endParaRPr lang="en-US" sz="1300" dirty="0"/>
          </a:p>
        </p:txBody>
      </p:sp>
      <p:sp>
        <p:nvSpPr>
          <p:cNvPr id="19" name="Text 16"/>
          <p:cNvSpPr txBox="1"/>
          <p:nvPr/>
        </p:nvSpPr>
        <p:spPr>
          <a:xfrm>
            <a:off x="4416552" y="3950208"/>
            <a:ext cx="3877056" cy="45720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Se cargan solo si hacen falta.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La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descripción</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decide cuándo se activa la skill</a:t>
            </a:r>
            <a:endParaRPr lang="en-US" sz="1800" dirty="0"/>
          </a:p>
        </p:txBody>
      </p:sp>
      <p:sp>
        <p:nvSpPr>
          <p:cNvPr id="4" name="Shape 1"/>
          <p:cNvSpPr/>
          <p:nvPr/>
        </p:nvSpPr>
        <p:spPr>
          <a:xfrm>
            <a:off x="634594" y="1371600"/>
            <a:ext cx="3822192" cy="2377440"/>
          </a:xfrm>
          <a:prstGeom prst="roundRect">
            <a:avLst>
              <a:gd name="adj" fmla="val 4808"/>
            </a:avLst>
          </a:prstGeom>
          <a:solidFill>
            <a:srgbClr val="EFEFEF"/>
          </a:solidFill>
          <a:ln/>
        </p:spPr>
      </p:sp>
      <p:sp>
        <p:nvSpPr>
          <p:cNvPr id="5" name="Text 2"/>
          <p:cNvSpPr txBox="1"/>
          <p:nvPr/>
        </p:nvSpPr>
        <p:spPr>
          <a:xfrm>
            <a:off x="908914" y="1600200"/>
            <a:ext cx="3273552" cy="2743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Descripción vaga</a:t>
            </a:r>
            <a:endParaRPr lang="en-US" sz="1400" dirty="0"/>
          </a:p>
        </p:txBody>
      </p:sp>
      <p:sp>
        <p:nvSpPr>
          <p:cNvPr id="6" name="Text 3"/>
          <p:cNvSpPr txBox="1"/>
          <p:nvPr/>
        </p:nvSpPr>
        <p:spPr>
          <a:xfrm>
            <a:off x="908914" y="2057400"/>
            <a:ext cx="3273552" cy="1508760"/>
          </a:xfrm>
          <a:prstGeom prst="rect">
            <a:avLst/>
          </a:prstGeom>
          <a:noFill/>
          <a:ln/>
        </p:spPr>
        <p:txBody>
          <a:bodyPr wrap="square" lIns="0" tIns="0" rIns="0" bIns="0" rtlCol="0" anchor="t"/>
          <a:lstStyle/>
          <a:p>
            <a:pPr algn="l" marL="342900" indent="-342900">
              <a:lnSpc>
                <a:spcPct val="100000"/>
              </a:lnSpc>
              <a:spcAft>
                <a:spcPts val="800"/>
              </a:spcAft>
              <a:buSzPct val="100000"/>
              <a:buChar char="•"/>
            </a:pPr>
            <a:r>
              <a:rPr lang="en-US" sz="1200" dirty="0">
                <a:solidFill>
                  <a:srgbClr val="333333"/>
                </a:solidFill>
                <a:latin typeface="DM Sans" pitchFamily="34" charset="0"/>
                <a:ea typeface="DM Sans" pitchFamily="34" charset="-122"/>
                <a:cs typeface="DM Sans" pitchFamily="34" charset="-120"/>
              </a:rPr>
              <a:t>«Ayuda con finanzas»</a:t>
            </a:r>
            <a:endParaRPr lang="en-US" sz="1200" dirty="0"/>
          </a:p>
          <a:p>
            <a:pPr algn="l" marL="342900" indent="-342900">
              <a:lnSpc>
                <a:spcPct val="100000"/>
              </a:lnSpc>
              <a:spcAft>
                <a:spcPts val="800"/>
              </a:spcAft>
              <a:buSzPct val="100000"/>
              <a:buChar char="•"/>
            </a:pPr>
            <a:r>
              <a:rPr lang="en-US" sz="1200" dirty="0">
                <a:solidFill>
                  <a:srgbClr val="333333"/>
                </a:solidFill>
                <a:latin typeface="DM Sans" pitchFamily="34" charset="0"/>
                <a:ea typeface="DM Sans" pitchFamily="34" charset="-122"/>
                <a:cs typeface="DM Sans" pitchFamily="34" charset="-120"/>
              </a:rPr>
              <a:t>Claude no sabe cuándo usarla</a:t>
            </a:r>
            <a:endParaRPr lang="en-US" sz="1200" dirty="0"/>
          </a:p>
          <a:p>
            <a:pPr algn="l" marL="342900" indent="-342900">
              <a:lnSpc>
                <a:spcPct val="100000"/>
              </a:lnSpc>
              <a:spcAft>
                <a:spcPts val="800"/>
              </a:spcAft>
              <a:buSzPct val="100000"/>
              <a:buChar char="•"/>
            </a:pPr>
            <a:r>
              <a:rPr lang="en-US" sz="1200" dirty="0">
                <a:solidFill>
                  <a:srgbClr val="333333"/>
                </a:solidFill>
                <a:latin typeface="DM Sans" pitchFamily="34" charset="0"/>
                <a:ea typeface="DM Sans" pitchFamily="34" charset="-122"/>
                <a:cs typeface="DM Sans" pitchFamily="34" charset="-120"/>
              </a:rPr>
              <a:t>No se activa en el momento justo</a:t>
            </a:r>
            <a:endParaRPr lang="en-US" sz="1200" dirty="0"/>
          </a:p>
        </p:txBody>
      </p:sp>
      <p:sp>
        <p:nvSpPr>
          <p:cNvPr id="7" name="Shape 4"/>
          <p:cNvSpPr/>
          <p:nvPr/>
        </p:nvSpPr>
        <p:spPr>
          <a:xfrm>
            <a:off x="4676242" y="1371600"/>
            <a:ext cx="3822192" cy="2377440"/>
          </a:xfrm>
          <a:prstGeom prst="roundRect">
            <a:avLst>
              <a:gd name="adj" fmla="val 4808"/>
            </a:avLst>
          </a:prstGeom>
          <a:solidFill>
            <a:srgbClr val="3333FF"/>
          </a:solidFill>
          <a:ln/>
        </p:spPr>
      </p:sp>
      <p:sp>
        <p:nvSpPr>
          <p:cNvPr id="8" name="Text 5"/>
          <p:cNvSpPr txBox="1"/>
          <p:nvPr/>
        </p:nvSpPr>
        <p:spPr>
          <a:xfrm>
            <a:off x="4950562" y="1600200"/>
            <a:ext cx="3273552" cy="274320"/>
          </a:xfrm>
          <a:prstGeom prst="rect">
            <a:avLst/>
          </a:prstGeom>
          <a:noFill/>
          <a:ln/>
        </p:spPr>
        <p:txBody>
          <a:bodyPr wrap="square" lIns="0" tIns="0" rIns="0" bIns="0" rtlCol="0" anchor="t"/>
          <a:lstStyle/>
          <a:p>
            <a:pPr algn="l"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Descripción precisa</a:t>
            </a:r>
            <a:endParaRPr lang="en-US" sz="1400" dirty="0"/>
          </a:p>
        </p:txBody>
      </p:sp>
      <p:sp>
        <p:nvSpPr>
          <p:cNvPr id="9" name="Text 6"/>
          <p:cNvSpPr txBox="1"/>
          <p:nvPr/>
        </p:nvSpPr>
        <p:spPr>
          <a:xfrm>
            <a:off x="4950562" y="2057400"/>
            <a:ext cx="3273552" cy="1508760"/>
          </a:xfrm>
          <a:prstGeom prst="rect">
            <a:avLst/>
          </a:prstGeom>
          <a:noFill/>
          <a:ln/>
        </p:spPr>
        <p:txBody>
          <a:bodyPr wrap="square" lIns="0" tIns="0" rIns="0" bIns="0" rtlCol="0" anchor="t"/>
          <a:lstStyle/>
          <a:p>
            <a:pPr algn="l" marL="342900" indent="-342900">
              <a:lnSpc>
                <a:spcPct val="100000"/>
              </a:lnSpc>
              <a:spcAft>
                <a:spcPts val="800"/>
              </a:spcAft>
              <a:buSzPct val="100000"/>
              <a:buChar char="•"/>
            </a:pPr>
            <a:r>
              <a:rPr lang="en-US" sz="1200" dirty="0">
                <a:solidFill>
                  <a:srgbClr val="FFFFFF"/>
                </a:solidFill>
                <a:latin typeface="DM Sans" pitchFamily="34" charset="0"/>
                <a:ea typeface="DM Sans" pitchFamily="34" charset="-122"/>
                <a:cs typeface="DM Sans" pitchFamily="34" charset="-120"/>
              </a:rPr>
              <a:t>«Usar al conciliar el mayor contra un extracto bancario o subledger e identificar partidas conciliatorias»</a:t>
            </a:r>
            <a:endParaRPr lang="en-US" sz="1200" dirty="0"/>
          </a:p>
          <a:p>
            <a:pPr algn="l" marL="342900" indent="-342900">
              <a:lnSpc>
                <a:spcPct val="100000"/>
              </a:lnSpc>
              <a:spcAft>
                <a:spcPts val="800"/>
              </a:spcAft>
              <a:buSzPct val="100000"/>
              <a:buChar char="•"/>
            </a:pPr>
            <a:r>
              <a:rPr lang="en-US" sz="1200" dirty="0">
                <a:solidFill>
                  <a:srgbClr val="FFFFFF"/>
                </a:solidFill>
                <a:latin typeface="DM Sans" pitchFamily="34" charset="0"/>
                <a:ea typeface="DM Sans" pitchFamily="34" charset="-122"/>
                <a:cs typeface="DM Sans" pitchFamily="34" charset="-120"/>
              </a:rPr>
              <a:t>Se activa sola en el momento justo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Se invoca de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tres formas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sola, por nombre o con «/»</a:t>
            </a:r>
            <a:endParaRPr lang="en-US" sz="1800" dirty="0"/>
          </a:p>
        </p:txBody>
      </p:sp>
      <p:sp>
        <p:nvSpPr>
          <p:cNvPr id="4" name="Shape 1"/>
          <p:cNvSpPr/>
          <p:nvPr/>
        </p:nvSpPr>
        <p:spPr>
          <a:xfrm>
            <a:off x="634594" y="1371600"/>
            <a:ext cx="2468880" cy="1828800"/>
          </a:xfrm>
          <a:prstGeom prst="roundRect">
            <a:avLst>
              <a:gd name="adj" fmla="val 6250"/>
            </a:avLst>
          </a:prstGeom>
          <a:solidFill>
            <a:srgbClr val="EEEFFE"/>
          </a:solidFill>
          <a:ln/>
        </p:spPr>
      </p:sp>
      <p:sp>
        <p:nvSpPr>
          <p:cNvPr id="5" name="Text 2"/>
          <p:cNvSpPr txBox="1"/>
          <p:nvPr/>
        </p:nvSpPr>
        <p:spPr>
          <a:xfrm>
            <a:off x="81747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Automática</a:t>
            </a:r>
            <a:endParaRPr lang="en-US" sz="1400" dirty="0"/>
          </a:p>
        </p:txBody>
      </p:sp>
      <p:sp>
        <p:nvSpPr>
          <p:cNvPr id="6" name="Text 3"/>
          <p:cNvSpPr txBox="1"/>
          <p:nvPr/>
        </p:nvSpPr>
        <p:spPr>
          <a:xfrm>
            <a:off x="817474" y="1965960"/>
            <a:ext cx="2103120" cy="109728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Describo la tarea y Claude detecta que hay una skill que aplica.</a:t>
            </a:r>
            <a:endParaRPr lang="en-US" sz="1200" dirty="0"/>
          </a:p>
        </p:txBody>
      </p:sp>
      <p:sp>
        <p:nvSpPr>
          <p:cNvPr id="7" name="Shape 4"/>
          <p:cNvSpPr/>
          <p:nvPr/>
        </p:nvSpPr>
        <p:spPr>
          <a:xfrm>
            <a:off x="3332074" y="1371600"/>
            <a:ext cx="2468880" cy="1828800"/>
          </a:xfrm>
          <a:prstGeom prst="roundRect">
            <a:avLst>
              <a:gd name="adj" fmla="val 6250"/>
            </a:avLst>
          </a:prstGeom>
          <a:solidFill>
            <a:srgbClr val="EEEFFE"/>
          </a:solidFill>
          <a:ln/>
        </p:spPr>
      </p:sp>
      <p:sp>
        <p:nvSpPr>
          <p:cNvPr id="8" name="Text 5"/>
          <p:cNvSpPr txBox="1"/>
          <p:nvPr/>
        </p:nvSpPr>
        <p:spPr>
          <a:xfrm>
            <a:off x="351495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Por nombre</a:t>
            </a:r>
            <a:endParaRPr lang="en-US" sz="1400" dirty="0"/>
          </a:p>
        </p:txBody>
      </p:sp>
      <p:sp>
        <p:nvSpPr>
          <p:cNvPr id="9" name="Text 6"/>
          <p:cNvSpPr txBox="1"/>
          <p:nvPr/>
        </p:nvSpPr>
        <p:spPr>
          <a:xfrm>
            <a:off x="3514954" y="1965960"/>
            <a:ext cx="2103120" cy="109728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«Usá la skill de conciliación».</a:t>
            </a:r>
            <a:endParaRPr lang="en-US" sz="1200" dirty="0"/>
          </a:p>
        </p:txBody>
      </p:sp>
      <p:sp>
        <p:nvSpPr>
          <p:cNvPr id="10" name="Shape 7"/>
          <p:cNvSpPr/>
          <p:nvPr/>
        </p:nvSpPr>
        <p:spPr>
          <a:xfrm>
            <a:off x="6029554" y="1371600"/>
            <a:ext cx="2468880" cy="1828800"/>
          </a:xfrm>
          <a:prstGeom prst="roundRect">
            <a:avLst>
              <a:gd name="adj" fmla="val 6250"/>
            </a:avLst>
          </a:prstGeom>
          <a:solidFill>
            <a:srgbClr val="EEEFFE"/>
          </a:solidFill>
          <a:ln/>
        </p:spPr>
      </p:sp>
      <p:sp>
        <p:nvSpPr>
          <p:cNvPr id="11" name="Text 8"/>
          <p:cNvSpPr txBox="1"/>
          <p:nvPr/>
        </p:nvSpPr>
        <p:spPr>
          <a:xfrm>
            <a:off x="621243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Con «/»</a:t>
            </a:r>
            <a:endParaRPr lang="en-US" sz="1400" dirty="0"/>
          </a:p>
        </p:txBody>
      </p:sp>
      <p:sp>
        <p:nvSpPr>
          <p:cNvPr id="12" name="Text 9"/>
          <p:cNvSpPr txBox="1"/>
          <p:nvPr/>
        </p:nvSpPr>
        <p:spPr>
          <a:xfrm>
            <a:off x="6212434" y="1965960"/>
            <a:ext cx="2103120" cy="109728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Escribo «/» y elijo la skill de la lista.</a:t>
            </a:r>
            <a:endParaRPr lang="en-US" sz="1200" dirty="0"/>
          </a:p>
        </p:txBody>
      </p:sp>
      <p:sp>
        <p:nvSpPr>
          <p:cNvPr id="13" name="Shape 10"/>
          <p:cNvSpPr/>
          <p:nvPr/>
        </p:nvSpPr>
        <p:spPr>
          <a:xfrm>
            <a:off x="634594" y="3429000"/>
            <a:ext cx="7887614" cy="594360"/>
          </a:xfrm>
          <a:prstGeom prst="roundRect">
            <a:avLst>
              <a:gd name="adj" fmla="val 19231"/>
            </a:avLst>
          </a:prstGeom>
          <a:solidFill>
            <a:srgbClr val="EEEFFE"/>
          </a:solidFill>
          <a:ln/>
        </p:spPr>
      </p:sp>
      <p:sp>
        <p:nvSpPr>
          <p:cNvPr id="14" name="Text 11"/>
          <p:cNvSpPr txBox="1"/>
          <p:nvPr/>
        </p:nvSpPr>
        <p:spPr>
          <a:xfrm>
            <a:off x="863194" y="342900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Al principio, por nombre o con «/». Con el tiempo, activación automática.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Para Finanzas ya hay skills de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cierre, conciliación, asientos y variaciones</a:t>
            </a:r>
            <a:endParaRPr lang="en-US" sz="1800" dirty="0"/>
          </a:p>
        </p:txBody>
      </p:sp>
      <p:sp>
        <p:nvSpPr>
          <p:cNvPr id="4" name="Text 1"/>
          <p:cNvSpPr txBox="1"/>
          <p:nvPr/>
        </p:nvSpPr>
        <p:spPr>
          <a:xfrm>
            <a:off x="634594" y="1371600"/>
            <a:ext cx="2245766" cy="274320"/>
          </a:xfrm>
          <a:prstGeom prst="rect">
            <a:avLst/>
          </a:prstGeom>
          <a:noFill/>
          <a:ln/>
        </p:spPr>
        <p:txBody>
          <a:bodyPr wrap="square" lIns="0" tIns="0" rIns="0" bIns="0" rtlCol="0" anchor="t"/>
          <a:lstStyle/>
          <a:p>
            <a:pPr algn="l" indent="0" marL="0">
              <a:lnSpc>
                <a:spcPct val="100000"/>
              </a:lnSpc>
              <a:buNone/>
            </a:pPr>
            <a:r>
              <a:rPr lang="en-US" sz="1000" dirty="0">
                <a:solidFill>
                  <a:srgbClr val="3333FF"/>
                </a:solidFill>
                <a:latin typeface="DM Sans SemiBold" pitchFamily="34" charset="0"/>
                <a:ea typeface="DM Sans SemiBold" pitchFamily="34" charset="-122"/>
                <a:cs typeface="DM Sans SemiBold" pitchFamily="34" charset="-120"/>
              </a:rPr>
              <a:t>Skill</a:t>
            </a:r>
            <a:endParaRPr lang="en-US" sz="1000" dirty="0"/>
          </a:p>
        </p:txBody>
      </p:sp>
      <p:sp>
        <p:nvSpPr>
          <p:cNvPr id="5" name="Text 2"/>
          <p:cNvSpPr txBox="1"/>
          <p:nvPr/>
        </p:nvSpPr>
        <p:spPr>
          <a:xfrm>
            <a:off x="3017520" y="1371600"/>
            <a:ext cx="5367528" cy="274320"/>
          </a:xfrm>
          <a:prstGeom prst="rect">
            <a:avLst/>
          </a:prstGeom>
          <a:noFill/>
          <a:ln/>
        </p:spPr>
        <p:txBody>
          <a:bodyPr wrap="square" lIns="0" tIns="0" rIns="0" bIns="0" rtlCol="0" anchor="t"/>
          <a:lstStyle/>
          <a:p>
            <a:pPr algn="l" indent="0" marL="0">
              <a:lnSpc>
                <a:spcPct val="100000"/>
              </a:lnSpc>
              <a:buNone/>
            </a:pPr>
            <a:r>
              <a:rPr lang="en-US" sz="1000" dirty="0">
                <a:solidFill>
                  <a:srgbClr val="3333FF"/>
                </a:solidFill>
                <a:latin typeface="DM Sans SemiBold" pitchFamily="34" charset="0"/>
                <a:ea typeface="DM Sans SemiBold" pitchFamily="34" charset="-122"/>
                <a:cs typeface="DM Sans SemiBold" pitchFamily="34" charset="-120"/>
              </a:rPr>
              <a:t>Para qué sirve</a:t>
            </a:r>
            <a:endParaRPr lang="en-US" sz="1000" dirty="0"/>
          </a:p>
        </p:txBody>
      </p:sp>
      <p:sp>
        <p:nvSpPr>
          <p:cNvPr id="6" name="Shape 3"/>
          <p:cNvSpPr/>
          <p:nvPr/>
        </p:nvSpPr>
        <p:spPr>
          <a:xfrm>
            <a:off x="634594" y="1700784"/>
            <a:ext cx="7887614" cy="0"/>
          </a:xfrm>
          <a:prstGeom prst="line">
            <a:avLst/>
          </a:prstGeom>
          <a:noFill/>
          <a:ln w="12700">
            <a:solidFill>
              <a:srgbClr val="3333FF"/>
            </a:solidFill>
            <a:prstDash val="solid"/>
          </a:ln>
        </p:spPr>
      </p:sp>
      <p:sp>
        <p:nvSpPr>
          <p:cNvPr id="7" name="Text 4"/>
          <p:cNvSpPr txBox="1"/>
          <p:nvPr/>
        </p:nvSpPr>
        <p:spPr>
          <a:xfrm>
            <a:off x="634594" y="173736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Cierre mensual</a:t>
            </a:r>
            <a:endParaRPr lang="en-US" sz="1100" dirty="0"/>
          </a:p>
        </p:txBody>
      </p:sp>
      <p:sp>
        <p:nvSpPr>
          <p:cNvPr id="8" name="Text 5"/>
          <p:cNvSpPr txBox="1"/>
          <p:nvPr/>
        </p:nvSpPr>
        <p:spPr>
          <a:xfrm>
            <a:off x="3017520" y="173736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Planificar el cierre y seguir tareas, dependencias y bloqueos</a:t>
            </a:r>
            <a:endParaRPr lang="en-US" sz="1100" dirty="0"/>
          </a:p>
        </p:txBody>
      </p:sp>
      <p:sp>
        <p:nvSpPr>
          <p:cNvPr id="9" name="Shape 6"/>
          <p:cNvSpPr/>
          <p:nvPr/>
        </p:nvSpPr>
        <p:spPr>
          <a:xfrm>
            <a:off x="634594" y="2148840"/>
            <a:ext cx="7887614" cy="0"/>
          </a:xfrm>
          <a:prstGeom prst="line">
            <a:avLst/>
          </a:prstGeom>
          <a:noFill/>
          <a:ln w="9525">
            <a:solidFill>
              <a:srgbClr val="E4E4E4"/>
            </a:solidFill>
            <a:prstDash val="solid"/>
          </a:ln>
        </p:spPr>
      </p:sp>
      <p:sp>
        <p:nvSpPr>
          <p:cNvPr id="10" name="Text 7"/>
          <p:cNvSpPr txBox="1"/>
          <p:nvPr/>
        </p:nvSpPr>
        <p:spPr>
          <a:xfrm>
            <a:off x="634594" y="214884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Conciliación</a:t>
            </a:r>
            <a:endParaRPr lang="en-US" sz="1100" dirty="0"/>
          </a:p>
        </p:txBody>
      </p:sp>
      <p:sp>
        <p:nvSpPr>
          <p:cNvPr id="11" name="Text 8"/>
          <p:cNvSpPr txBox="1"/>
          <p:nvPr/>
        </p:nvSpPr>
        <p:spPr>
          <a:xfrm>
            <a:off x="3017520" y="214884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Comparar el mayor contra extracto, subledger o terceros y clasificar partidas</a:t>
            </a:r>
            <a:endParaRPr lang="en-US" sz="1100" dirty="0"/>
          </a:p>
        </p:txBody>
      </p:sp>
      <p:sp>
        <p:nvSpPr>
          <p:cNvPr id="12" name="Shape 9"/>
          <p:cNvSpPr/>
          <p:nvPr/>
        </p:nvSpPr>
        <p:spPr>
          <a:xfrm>
            <a:off x="634594" y="2560320"/>
            <a:ext cx="7887614" cy="0"/>
          </a:xfrm>
          <a:prstGeom prst="line">
            <a:avLst/>
          </a:prstGeom>
          <a:noFill/>
          <a:ln w="9525">
            <a:solidFill>
              <a:srgbClr val="E4E4E4"/>
            </a:solidFill>
            <a:prstDash val="solid"/>
          </a:ln>
        </p:spPr>
      </p:sp>
      <p:sp>
        <p:nvSpPr>
          <p:cNvPr id="13" name="Text 10"/>
          <p:cNvSpPr txBox="1"/>
          <p:nvPr/>
        </p:nvSpPr>
        <p:spPr>
          <a:xfrm>
            <a:off x="634594" y="256032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Asientos contables</a:t>
            </a:r>
            <a:endParaRPr lang="en-US" sz="1100" dirty="0"/>
          </a:p>
        </p:txBody>
      </p:sp>
      <p:sp>
        <p:nvSpPr>
          <p:cNvPr id="14" name="Text 11"/>
          <p:cNvSpPr txBox="1"/>
          <p:nvPr/>
        </p:nvSpPr>
        <p:spPr>
          <a:xfrm>
            <a:off x="3017520" y="256032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Débitos, créditos y soporte de cada asiento</a:t>
            </a:r>
            <a:endParaRPr lang="en-US" sz="1100" dirty="0"/>
          </a:p>
        </p:txBody>
      </p:sp>
      <p:sp>
        <p:nvSpPr>
          <p:cNvPr id="15" name="Shape 12"/>
          <p:cNvSpPr/>
          <p:nvPr/>
        </p:nvSpPr>
        <p:spPr>
          <a:xfrm>
            <a:off x="634594" y="2971800"/>
            <a:ext cx="7887614" cy="0"/>
          </a:xfrm>
          <a:prstGeom prst="line">
            <a:avLst/>
          </a:prstGeom>
          <a:noFill/>
          <a:ln w="9525">
            <a:solidFill>
              <a:srgbClr val="E4E4E4"/>
            </a:solidFill>
            <a:prstDash val="solid"/>
          </a:ln>
        </p:spPr>
      </p:sp>
      <p:sp>
        <p:nvSpPr>
          <p:cNvPr id="16" name="Text 13"/>
          <p:cNvSpPr txBox="1"/>
          <p:nvPr/>
        </p:nvSpPr>
        <p:spPr>
          <a:xfrm>
            <a:off x="634594" y="297180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Análisis de variaciones</a:t>
            </a:r>
            <a:endParaRPr lang="en-US" sz="1100" dirty="0"/>
          </a:p>
        </p:txBody>
      </p:sp>
      <p:sp>
        <p:nvSpPr>
          <p:cNvPr id="17" name="Text 14"/>
          <p:cNvSpPr txBox="1"/>
          <p:nvPr/>
        </p:nvSpPr>
        <p:spPr>
          <a:xfrm>
            <a:off x="3017520" y="297180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Explicar presupuesto vs. real con los drivers de cada variación</a:t>
            </a:r>
            <a:endParaRPr lang="en-US" sz="1100" dirty="0"/>
          </a:p>
        </p:txBody>
      </p:sp>
      <p:sp>
        <p:nvSpPr>
          <p:cNvPr id="18" name="Shape 15"/>
          <p:cNvSpPr/>
          <p:nvPr/>
        </p:nvSpPr>
        <p:spPr>
          <a:xfrm>
            <a:off x="634594" y="3383280"/>
            <a:ext cx="7887614" cy="0"/>
          </a:xfrm>
          <a:prstGeom prst="line">
            <a:avLst/>
          </a:prstGeom>
          <a:noFill/>
          <a:ln w="9525">
            <a:solidFill>
              <a:srgbClr val="E4E4E4"/>
            </a:solidFill>
            <a:prstDash val="solid"/>
          </a:ln>
        </p:spPr>
      </p:sp>
      <p:sp>
        <p:nvSpPr>
          <p:cNvPr id="19" name="Text 16"/>
          <p:cNvSpPr txBox="1"/>
          <p:nvPr/>
        </p:nvSpPr>
        <p:spPr>
          <a:xfrm>
            <a:off x="634594" y="338328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Estados financieros</a:t>
            </a:r>
            <a:endParaRPr lang="en-US" sz="1100" dirty="0"/>
          </a:p>
        </p:txBody>
      </p:sp>
      <p:sp>
        <p:nvSpPr>
          <p:cNvPr id="20" name="Text 17"/>
          <p:cNvSpPr txBox="1"/>
          <p:nvPr/>
        </p:nvSpPr>
        <p:spPr>
          <a:xfrm>
            <a:off x="3017520" y="338328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Resultados, balance y flujo, con comparativo entre períodos</a:t>
            </a:r>
            <a:endParaRPr lang="en-US" sz="1100" dirty="0"/>
          </a:p>
        </p:txBody>
      </p:sp>
      <p:sp>
        <p:nvSpPr>
          <p:cNvPr id="21" name="Shape 18"/>
          <p:cNvSpPr/>
          <p:nvPr/>
        </p:nvSpPr>
        <p:spPr>
          <a:xfrm>
            <a:off x="634594" y="3794760"/>
            <a:ext cx="7887614" cy="0"/>
          </a:xfrm>
          <a:prstGeom prst="line">
            <a:avLst/>
          </a:prstGeom>
          <a:noFill/>
          <a:ln w="9525">
            <a:solidFill>
              <a:srgbClr val="E4E4E4"/>
            </a:solidFill>
            <a:prstDash val="solid"/>
          </a:ln>
        </p:spPr>
      </p:sp>
      <p:sp>
        <p:nvSpPr>
          <p:cNvPr id="22" name="Text 19"/>
          <p:cNvSpPr txBox="1"/>
          <p:nvPr/>
        </p:nvSpPr>
        <p:spPr>
          <a:xfrm>
            <a:off x="634594" y="379476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Pruebas de control</a:t>
            </a:r>
            <a:endParaRPr lang="en-US" sz="1100" dirty="0"/>
          </a:p>
        </p:txBody>
      </p:sp>
      <p:sp>
        <p:nvSpPr>
          <p:cNvPr id="23" name="Text 20"/>
          <p:cNvSpPr txBox="1"/>
          <p:nvPr/>
        </p:nvSpPr>
        <p:spPr>
          <a:xfrm>
            <a:off x="3017520" y="379476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Muestras y papeles de trabajo para testeo de controles</a:t>
            </a:r>
            <a:endParaRPr lang="en-US" sz="1100" dirty="0"/>
          </a:p>
        </p:txBody>
      </p:sp>
      <p:sp>
        <p:nvSpPr>
          <p:cNvPr id="24" name="Text 21"/>
          <p:cNvSpPr txBox="1"/>
          <p:nvPr/>
        </p:nvSpPr>
        <p:spPr>
          <a:xfrm>
            <a:off x="634594" y="4407408"/>
            <a:ext cx="7863840" cy="228600"/>
          </a:xfrm>
          <a:prstGeom prst="rect">
            <a:avLst/>
          </a:prstGeom>
          <a:noFill/>
          <a:ln/>
        </p:spPr>
        <p:txBody>
          <a:bodyPr wrap="square" lIns="0" tIns="0" rIns="0" bIns="0" rtlCol="0" anchor="t"/>
          <a:lstStyle/>
          <a:p>
            <a:pPr algn="l" indent="0" marL="0">
              <a:lnSpc>
                <a:spcPct val="100000"/>
              </a:lnSpc>
              <a:buNone/>
            </a:pPr>
            <a:r>
              <a:rPr lang="en-US" sz="1000" dirty="0">
                <a:solidFill>
                  <a:srgbClr val="3E3E3E"/>
                </a:solidFill>
                <a:latin typeface="DM Sans" pitchFamily="34" charset="0"/>
                <a:ea typeface="DM Sans" pitchFamily="34" charset="-122"/>
                <a:cs typeface="DM Sans" pitchFamily="34" charset="-120"/>
              </a:rPr>
              <a:t>Las disponibles dependen de lo instalado en cada cuenta (Customize).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DEMO: una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conciliación</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con skill en cuatro pasos</a:t>
            </a:r>
            <a:endParaRPr lang="en-US" sz="1800" dirty="0"/>
          </a:p>
        </p:txBody>
      </p:sp>
      <p:sp>
        <p:nvSpPr>
          <p:cNvPr id="4" name="Shape 1"/>
          <p:cNvSpPr/>
          <p:nvPr/>
        </p:nvSpPr>
        <p:spPr>
          <a:xfrm>
            <a:off x="634594" y="1371600"/>
            <a:ext cx="5532120" cy="530352"/>
          </a:xfrm>
          <a:prstGeom prst="roundRect">
            <a:avLst>
              <a:gd name="adj" fmla="val 21552"/>
            </a:avLst>
          </a:prstGeom>
          <a:solidFill>
            <a:srgbClr val="3333FF"/>
          </a:solidFill>
          <a:ln/>
        </p:spPr>
      </p:sp>
      <p:sp>
        <p:nvSpPr>
          <p:cNvPr id="5" name="Shape 2"/>
          <p:cNvSpPr/>
          <p:nvPr/>
        </p:nvSpPr>
        <p:spPr>
          <a:xfrm>
            <a:off x="726034" y="1463040"/>
            <a:ext cx="347472" cy="347472"/>
          </a:xfrm>
          <a:prstGeom prst="roundRect">
            <a:avLst>
              <a:gd name="adj" fmla="val 50000"/>
            </a:avLst>
          </a:prstGeom>
          <a:solidFill>
            <a:srgbClr val="3333FF"/>
          </a:solidFill>
          <a:ln/>
        </p:spPr>
      </p:sp>
      <p:sp>
        <p:nvSpPr>
          <p:cNvPr id="6" name="Text 3"/>
          <p:cNvSpPr txBox="1"/>
          <p:nvPr/>
        </p:nvSpPr>
        <p:spPr>
          <a:xfrm>
            <a:off x="726034" y="146304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1</a:t>
            </a:r>
            <a:endParaRPr lang="en-US" sz="1400" dirty="0"/>
          </a:p>
        </p:txBody>
      </p:sp>
      <p:sp>
        <p:nvSpPr>
          <p:cNvPr id="7" name="Text 4"/>
          <p:cNvSpPr txBox="1"/>
          <p:nvPr/>
        </p:nvSpPr>
        <p:spPr>
          <a:xfrm>
            <a:off x="1201522" y="1371600"/>
            <a:ext cx="484632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Subir extracto y mayor</a:t>
            </a:r>
            <a:endParaRPr lang="en-US" sz="1300" dirty="0"/>
          </a:p>
        </p:txBody>
      </p:sp>
      <p:sp>
        <p:nvSpPr>
          <p:cNvPr id="8" name="Text 5"/>
          <p:cNvSpPr txBox="1"/>
          <p:nvPr/>
        </p:nvSpPr>
        <p:spPr>
          <a:xfrm>
            <a:off x="6355080" y="137160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Datos de prueba, anonimizados.</a:t>
            </a:r>
            <a:endParaRPr lang="en-US" sz="1050" dirty="0"/>
          </a:p>
        </p:txBody>
      </p:sp>
      <p:sp>
        <p:nvSpPr>
          <p:cNvPr id="9" name="Shape 6"/>
          <p:cNvSpPr/>
          <p:nvPr/>
        </p:nvSpPr>
        <p:spPr>
          <a:xfrm>
            <a:off x="634594" y="1965960"/>
            <a:ext cx="5166360" cy="530352"/>
          </a:xfrm>
          <a:prstGeom prst="roundRect">
            <a:avLst>
              <a:gd name="adj" fmla="val 21552"/>
            </a:avLst>
          </a:prstGeom>
          <a:solidFill>
            <a:srgbClr val="3333FF"/>
          </a:solidFill>
          <a:ln/>
        </p:spPr>
      </p:sp>
      <p:sp>
        <p:nvSpPr>
          <p:cNvPr id="10" name="Shape 7"/>
          <p:cNvSpPr/>
          <p:nvPr/>
        </p:nvSpPr>
        <p:spPr>
          <a:xfrm>
            <a:off x="726034" y="2057400"/>
            <a:ext cx="347472" cy="347472"/>
          </a:xfrm>
          <a:prstGeom prst="roundRect">
            <a:avLst>
              <a:gd name="adj" fmla="val 50000"/>
            </a:avLst>
          </a:prstGeom>
          <a:solidFill>
            <a:srgbClr val="3333FF"/>
          </a:solidFill>
          <a:ln/>
        </p:spPr>
      </p:sp>
      <p:sp>
        <p:nvSpPr>
          <p:cNvPr id="11" name="Text 8"/>
          <p:cNvSpPr txBox="1"/>
          <p:nvPr/>
        </p:nvSpPr>
        <p:spPr>
          <a:xfrm>
            <a:off x="726034" y="205740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2</a:t>
            </a:r>
            <a:endParaRPr lang="en-US" sz="1400" dirty="0"/>
          </a:p>
        </p:txBody>
      </p:sp>
      <p:sp>
        <p:nvSpPr>
          <p:cNvPr id="12" name="Text 9"/>
          <p:cNvSpPr txBox="1"/>
          <p:nvPr/>
        </p:nvSpPr>
        <p:spPr>
          <a:xfrm>
            <a:off x="1201522" y="1965960"/>
            <a:ext cx="448056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Pedir la conciliación nombrando la skill</a:t>
            </a:r>
            <a:endParaRPr lang="en-US" sz="1300" dirty="0"/>
          </a:p>
        </p:txBody>
      </p:sp>
      <p:sp>
        <p:nvSpPr>
          <p:cNvPr id="13" name="Text 10"/>
          <p:cNvSpPr txBox="1"/>
          <p:nvPr/>
        </p:nvSpPr>
        <p:spPr>
          <a:xfrm>
            <a:off x="6355080" y="196596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Invocación por nombre.</a:t>
            </a:r>
            <a:endParaRPr lang="en-US" sz="1050" dirty="0"/>
          </a:p>
        </p:txBody>
      </p:sp>
      <p:sp>
        <p:nvSpPr>
          <p:cNvPr id="14" name="Shape 11"/>
          <p:cNvSpPr/>
          <p:nvPr/>
        </p:nvSpPr>
        <p:spPr>
          <a:xfrm>
            <a:off x="634594" y="2560320"/>
            <a:ext cx="4800600" cy="530352"/>
          </a:xfrm>
          <a:prstGeom prst="roundRect">
            <a:avLst>
              <a:gd name="adj" fmla="val 21552"/>
            </a:avLst>
          </a:prstGeom>
          <a:solidFill>
            <a:srgbClr val="3333FF"/>
          </a:solidFill>
          <a:ln/>
        </p:spPr>
      </p:sp>
      <p:sp>
        <p:nvSpPr>
          <p:cNvPr id="15" name="Shape 12"/>
          <p:cNvSpPr/>
          <p:nvPr/>
        </p:nvSpPr>
        <p:spPr>
          <a:xfrm>
            <a:off x="726034" y="2651760"/>
            <a:ext cx="347472" cy="347472"/>
          </a:xfrm>
          <a:prstGeom prst="roundRect">
            <a:avLst>
              <a:gd name="adj" fmla="val 50000"/>
            </a:avLst>
          </a:prstGeom>
          <a:solidFill>
            <a:srgbClr val="3333FF"/>
          </a:solidFill>
          <a:ln/>
        </p:spPr>
      </p:sp>
      <p:sp>
        <p:nvSpPr>
          <p:cNvPr id="16" name="Text 13"/>
          <p:cNvSpPr txBox="1"/>
          <p:nvPr/>
        </p:nvSpPr>
        <p:spPr>
          <a:xfrm>
            <a:off x="726034" y="265176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3</a:t>
            </a:r>
            <a:endParaRPr lang="en-US" sz="1400" dirty="0"/>
          </a:p>
        </p:txBody>
      </p:sp>
      <p:sp>
        <p:nvSpPr>
          <p:cNvPr id="17" name="Text 14"/>
          <p:cNvSpPr txBox="1"/>
          <p:nvPr/>
        </p:nvSpPr>
        <p:spPr>
          <a:xfrm>
            <a:off x="1201522" y="2560320"/>
            <a:ext cx="411480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Revisar las partidas propuestas</a:t>
            </a:r>
            <a:endParaRPr lang="en-US" sz="1300" dirty="0"/>
          </a:p>
        </p:txBody>
      </p:sp>
      <p:sp>
        <p:nvSpPr>
          <p:cNvPr id="18" name="Text 15"/>
          <p:cNvSpPr txBox="1"/>
          <p:nvPr/>
        </p:nvSpPr>
        <p:spPr>
          <a:xfrm>
            <a:off x="6355080" y="256032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Con la lógica de cada una.</a:t>
            </a:r>
            <a:endParaRPr lang="en-US" sz="1050" dirty="0"/>
          </a:p>
        </p:txBody>
      </p:sp>
      <p:sp>
        <p:nvSpPr>
          <p:cNvPr id="19" name="Shape 16"/>
          <p:cNvSpPr/>
          <p:nvPr/>
        </p:nvSpPr>
        <p:spPr>
          <a:xfrm>
            <a:off x="634594" y="3154680"/>
            <a:ext cx="4434840" cy="530352"/>
          </a:xfrm>
          <a:prstGeom prst="roundRect">
            <a:avLst>
              <a:gd name="adj" fmla="val 21552"/>
            </a:avLst>
          </a:prstGeom>
          <a:solidFill>
            <a:srgbClr val="000099"/>
          </a:solidFill>
          <a:ln/>
        </p:spPr>
      </p:sp>
      <p:sp>
        <p:nvSpPr>
          <p:cNvPr id="20" name="Shape 17"/>
          <p:cNvSpPr/>
          <p:nvPr/>
        </p:nvSpPr>
        <p:spPr>
          <a:xfrm>
            <a:off x="726034" y="3246120"/>
            <a:ext cx="347472" cy="347472"/>
          </a:xfrm>
          <a:prstGeom prst="roundRect">
            <a:avLst>
              <a:gd name="adj" fmla="val 50000"/>
            </a:avLst>
          </a:prstGeom>
          <a:solidFill>
            <a:srgbClr val="3333FF"/>
          </a:solidFill>
          <a:ln/>
        </p:spPr>
      </p:sp>
      <p:sp>
        <p:nvSpPr>
          <p:cNvPr id="21" name="Text 18"/>
          <p:cNvSpPr txBox="1"/>
          <p:nvPr/>
        </p:nvSpPr>
        <p:spPr>
          <a:xfrm>
            <a:off x="726034" y="3246120"/>
            <a:ext cx="347472" cy="347472"/>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Gloock" pitchFamily="34" charset="0"/>
                <a:ea typeface="Gloock" pitchFamily="34" charset="-122"/>
                <a:cs typeface="Gloock" pitchFamily="34" charset="-120"/>
              </a:rPr>
              <a:t>4</a:t>
            </a:r>
            <a:endParaRPr lang="en-US" sz="1400" dirty="0"/>
          </a:p>
        </p:txBody>
      </p:sp>
      <p:sp>
        <p:nvSpPr>
          <p:cNvPr id="22" name="Text 19"/>
          <p:cNvSpPr txBox="1"/>
          <p:nvPr/>
        </p:nvSpPr>
        <p:spPr>
          <a:xfrm>
            <a:off x="1201522" y="3154680"/>
            <a:ext cx="3749040" cy="530352"/>
          </a:xfrm>
          <a:prstGeom prst="rect">
            <a:avLst/>
          </a:prstGeom>
          <a:noFill/>
          <a:ln/>
        </p:spPr>
        <p:txBody>
          <a:bodyPr wrap="square" lIns="0" tIns="0" rIns="0" bIns="0" rtlCol="0" anchor="ctr"/>
          <a:lstStyle/>
          <a:p>
            <a:pPr algn="l" indent="0" marL="0">
              <a:lnSpc>
                <a:spcPct val="100000"/>
              </a:lnSpc>
              <a:buNone/>
            </a:pPr>
            <a:r>
              <a:rPr lang="en-US" sz="1300" dirty="0">
                <a:solidFill>
                  <a:srgbClr val="FFFFFF"/>
                </a:solidFill>
                <a:latin typeface="DM Sans SemiBold" pitchFamily="34" charset="0"/>
                <a:ea typeface="DM Sans SemiBold" pitchFamily="34" charset="-122"/>
                <a:cs typeface="DM Sans SemiBold" pitchFamily="34" charset="-120"/>
              </a:rPr>
              <a:t>Resultado en planilla y control a mano</a:t>
            </a:r>
            <a:endParaRPr lang="en-US" sz="1300" dirty="0"/>
          </a:p>
        </p:txBody>
      </p:sp>
      <p:sp>
        <p:nvSpPr>
          <p:cNvPr id="23" name="Text 20"/>
          <p:cNvSpPr txBox="1"/>
          <p:nvPr/>
        </p:nvSpPr>
        <p:spPr>
          <a:xfrm>
            <a:off x="6355080" y="3154680"/>
            <a:ext cx="2167128" cy="530352"/>
          </a:xfrm>
          <a:prstGeom prst="rect">
            <a:avLst/>
          </a:prstGeom>
          <a:noFill/>
          <a:ln/>
        </p:spPr>
        <p:txBody>
          <a:bodyPr wrap="square" lIns="0" tIns="0" rIns="0" bIns="0" rtlCol="0" anchor="ctr"/>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Verificar 2 o 3 partidas.</a:t>
            </a:r>
            <a:endParaRPr lang="en-US" sz="1050" dirty="0"/>
          </a:p>
        </p:txBody>
      </p:sp>
      <p:sp>
        <p:nvSpPr>
          <p:cNvPr id="24" name="Shape 21"/>
          <p:cNvSpPr/>
          <p:nvPr/>
        </p:nvSpPr>
        <p:spPr>
          <a:xfrm>
            <a:off x="634594" y="3931920"/>
            <a:ext cx="7887614" cy="594360"/>
          </a:xfrm>
          <a:prstGeom prst="roundRect">
            <a:avLst>
              <a:gd name="adj" fmla="val 19231"/>
            </a:avLst>
          </a:prstGeom>
          <a:solidFill>
            <a:srgbClr val="EEEFFE"/>
          </a:solidFill>
          <a:ln/>
        </p:spPr>
      </p:sp>
      <p:sp>
        <p:nvSpPr>
          <p:cNvPr id="25" name="Text 22"/>
          <p:cNvSpPr txBox="1"/>
          <p:nvPr/>
        </p:nvSpPr>
        <p:spPr>
          <a:xfrm>
            <a:off x="863194" y="393192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El control humano es parte del flujo.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Crear una skill propia es una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conversación</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no programar</a:t>
            </a:r>
            <a:endParaRPr lang="en-US" sz="1800" dirty="0"/>
          </a:p>
        </p:txBody>
      </p:sp>
      <p:sp>
        <p:nvSpPr>
          <p:cNvPr id="4" name="Shape 1"/>
          <p:cNvSpPr/>
          <p:nvPr/>
        </p:nvSpPr>
        <p:spPr>
          <a:xfrm>
            <a:off x="634594" y="1371600"/>
            <a:ext cx="1828800" cy="2286000"/>
          </a:xfrm>
          <a:prstGeom prst="roundRect">
            <a:avLst>
              <a:gd name="adj" fmla="val 6250"/>
            </a:avLst>
          </a:prstGeom>
          <a:solidFill>
            <a:srgbClr val="EEEFFE"/>
          </a:solidFill>
          <a:ln/>
        </p:spPr>
      </p:sp>
      <p:sp>
        <p:nvSpPr>
          <p:cNvPr id="5" name="Shape 2"/>
          <p:cNvSpPr/>
          <p:nvPr/>
        </p:nvSpPr>
        <p:spPr>
          <a:xfrm>
            <a:off x="817474" y="1600200"/>
            <a:ext cx="420624" cy="420624"/>
          </a:xfrm>
          <a:prstGeom prst="roundRect">
            <a:avLst>
              <a:gd name="adj" fmla="val 50000"/>
            </a:avLst>
          </a:prstGeom>
          <a:solidFill>
            <a:srgbClr val="3333FF"/>
          </a:solidFill>
          <a:ln/>
        </p:spPr>
      </p:sp>
      <p:sp>
        <p:nvSpPr>
          <p:cNvPr id="6" name="Text 3"/>
          <p:cNvSpPr txBox="1"/>
          <p:nvPr/>
        </p:nvSpPr>
        <p:spPr>
          <a:xfrm>
            <a:off x="81747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1</a:t>
            </a:r>
            <a:endParaRPr lang="en-US" sz="2000" dirty="0"/>
          </a:p>
        </p:txBody>
      </p:sp>
      <p:sp>
        <p:nvSpPr>
          <p:cNvPr id="7" name="Text 4"/>
          <p:cNvSpPr txBox="1"/>
          <p:nvPr/>
        </p:nvSpPr>
        <p:spPr>
          <a:xfrm>
            <a:off x="817474" y="2203704"/>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Describir</a:t>
            </a:r>
            <a:endParaRPr lang="en-US" sz="1400" dirty="0"/>
          </a:p>
        </p:txBody>
      </p:sp>
      <p:sp>
        <p:nvSpPr>
          <p:cNvPr id="8" name="Text 5"/>
          <p:cNvSpPr txBox="1"/>
          <p:nvPr/>
        </p:nvSpPr>
        <p:spPr>
          <a:xfrm>
            <a:off x="817474" y="2569464"/>
            <a:ext cx="146304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El proceso, con sus propias palabras.</a:t>
            </a:r>
            <a:endParaRPr lang="en-US" sz="1200" dirty="0"/>
          </a:p>
        </p:txBody>
      </p:sp>
      <p:sp>
        <p:nvSpPr>
          <p:cNvPr id="9" name="Shape 6"/>
          <p:cNvSpPr/>
          <p:nvPr/>
        </p:nvSpPr>
        <p:spPr>
          <a:xfrm>
            <a:off x="2646274" y="1371600"/>
            <a:ext cx="1828800" cy="2286000"/>
          </a:xfrm>
          <a:prstGeom prst="roundRect">
            <a:avLst>
              <a:gd name="adj" fmla="val 6250"/>
            </a:avLst>
          </a:prstGeom>
          <a:solidFill>
            <a:srgbClr val="EEEFFE"/>
          </a:solidFill>
          <a:ln/>
        </p:spPr>
      </p:sp>
      <p:sp>
        <p:nvSpPr>
          <p:cNvPr id="10" name="Shape 7"/>
          <p:cNvSpPr/>
          <p:nvPr/>
        </p:nvSpPr>
        <p:spPr>
          <a:xfrm>
            <a:off x="2829154" y="1600200"/>
            <a:ext cx="420624" cy="420624"/>
          </a:xfrm>
          <a:prstGeom prst="roundRect">
            <a:avLst>
              <a:gd name="adj" fmla="val 50000"/>
            </a:avLst>
          </a:prstGeom>
          <a:solidFill>
            <a:srgbClr val="3333FF"/>
          </a:solidFill>
          <a:ln/>
        </p:spPr>
      </p:sp>
      <p:sp>
        <p:nvSpPr>
          <p:cNvPr id="11" name="Text 8"/>
          <p:cNvSpPr txBox="1"/>
          <p:nvPr/>
        </p:nvSpPr>
        <p:spPr>
          <a:xfrm>
            <a:off x="282915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2</a:t>
            </a:r>
            <a:endParaRPr lang="en-US" sz="2000" dirty="0"/>
          </a:p>
        </p:txBody>
      </p:sp>
      <p:sp>
        <p:nvSpPr>
          <p:cNvPr id="12" name="Text 9"/>
          <p:cNvSpPr txBox="1"/>
          <p:nvPr/>
        </p:nvSpPr>
        <p:spPr>
          <a:xfrm>
            <a:off x="2829154" y="2203704"/>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Responder</a:t>
            </a:r>
            <a:endParaRPr lang="en-US" sz="1400" dirty="0"/>
          </a:p>
        </p:txBody>
      </p:sp>
      <p:sp>
        <p:nvSpPr>
          <p:cNvPr id="13" name="Text 10"/>
          <p:cNvSpPr txBox="1"/>
          <p:nvPr/>
        </p:nvSpPr>
        <p:spPr>
          <a:xfrm>
            <a:off x="2829154" y="2569464"/>
            <a:ext cx="146304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Las preguntas que Claude hace para completar lo que falta.</a:t>
            </a:r>
            <a:endParaRPr lang="en-US" sz="1200" dirty="0"/>
          </a:p>
        </p:txBody>
      </p:sp>
      <p:sp>
        <p:nvSpPr>
          <p:cNvPr id="14" name="Shape 11"/>
          <p:cNvSpPr/>
          <p:nvPr/>
        </p:nvSpPr>
        <p:spPr>
          <a:xfrm>
            <a:off x="4657954" y="1371600"/>
            <a:ext cx="1828800" cy="2286000"/>
          </a:xfrm>
          <a:prstGeom prst="roundRect">
            <a:avLst>
              <a:gd name="adj" fmla="val 6250"/>
            </a:avLst>
          </a:prstGeom>
          <a:solidFill>
            <a:srgbClr val="EEEFFE"/>
          </a:solidFill>
          <a:ln/>
        </p:spPr>
      </p:sp>
      <p:sp>
        <p:nvSpPr>
          <p:cNvPr id="15" name="Shape 12"/>
          <p:cNvSpPr/>
          <p:nvPr/>
        </p:nvSpPr>
        <p:spPr>
          <a:xfrm>
            <a:off x="4840834" y="1600200"/>
            <a:ext cx="420624" cy="420624"/>
          </a:xfrm>
          <a:prstGeom prst="roundRect">
            <a:avLst>
              <a:gd name="adj" fmla="val 50000"/>
            </a:avLst>
          </a:prstGeom>
          <a:solidFill>
            <a:srgbClr val="3333FF"/>
          </a:solidFill>
          <a:ln/>
        </p:spPr>
      </p:sp>
      <p:sp>
        <p:nvSpPr>
          <p:cNvPr id="16" name="Text 13"/>
          <p:cNvSpPr txBox="1"/>
          <p:nvPr/>
        </p:nvSpPr>
        <p:spPr>
          <a:xfrm>
            <a:off x="484083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3</a:t>
            </a:r>
            <a:endParaRPr lang="en-US" sz="2000" dirty="0"/>
          </a:p>
        </p:txBody>
      </p:sp>
      <p:sp>
        <p:nvSpPr>
          <p:cNvPr id="17" name="Text 14"/>
          <p:cNvSpPr txBox="1"/>
          <p:nvPr/>
        </p:nvSpPr>
        <p:spPr>
          <a:xfrm>
            <a:off x="4840834" y="2203704"/>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Probar</a:t>
            </a:r>
            <a:endParaRPr lang="en-US" sz="1400" dirty="0"/>
          </a:p>
        </p:txBody>
      </p:sp>
      <p:sp>
        <p:nvSpPr>
          <p:cNvPr id="18" name="Text 15"/>
          <p:cNvSpPr txBox="1"/>
          <p:nvPr/>
        </p:nvSpPr>
        <p:spPr>
          <a:xfrm>
            <a:off x="4840834" y="2569464"/>
            <a:ext cx="146304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La skill con un caso real.</a:t>
            </a:r>
            <a:endParaRPr lang="en-US" sz="1200" dirty="0"/>
          </a:p>
        </p:txBody>
      </p:sp>
      <p:sp>
        <p:nvSpPr>
          <p:cNvPr id="19" name="Shape 16"/>
          <p:cNvSpPr/>
          <p:nvPr/>
        </p:nvSpPr>
        <p:spPr>
          <a:xfrm>
            <a:off x="6669634" y="1371600"/>
            <a:ext cx="1828800" cy="2286000"/>
          </a:xfrm>
          <a:prstGeom prst="roundRect">
            <a:avLst>
              <a:gd name="adj" fmla="val 6250"/>
            </a:avLst>
          </a:prstGeom>
          <a:solidFill>
            <a:srgbClr val="EEEFFE"/>
          </a:solidFill>
          <a:ln/>
        </p:spPr>
      </p:sp>
      <p:sp>
        <p:nvSpPr>
          <p:cNvPr id="20" name="Shape 17"/>
          <p:cNvSpPr/>
          <p:nvPr/>
        </p:nvSpPr>
        <p:spPr>
          <a:xfrm>
            <a:off x="6852514" y="1600200"/>
            <a:ext cx="420624" cy="420624"/>
          </a:xfrm>
          <a:prstGeom prst="roundRect">
            <a:avLst>
              <a:gd name="adj" fmla="val 50000"/>
            </a:avLst>
          </a:prstGeom>
          <a:solidFill>
            <a:srgbClr val="3333FF"/>
          </a:solidFill>
          <a:ln/>
        </p:spPr>
      </p:sp>
      <p:sp>
        <p:nvSpPr>
          <p:cNvPr id="21" name="Text 18"/>
          <p:cNvSpPr txBox="1"/>
          <p:nvPr/>
        </p:nvSpPr>
        <p:spPr>
          <a:xfrm>
            <a:off x="6852514" y="1600200"/>
            <a:ext cx="420624" cy="420624"/>
          </a:xfrm>
          <a:prstGeom prst="rect">
            <a:avLst/>
          </a:prstGeom>
          <a:noFill/>
          <a:ln/>
        </p:spPr>
        <p:txBody>
          <a:bodyPr wrap="square" lIns="0" tIns="0" rIns="0" bIns="0" rtlCol="0" anchor="ctr"/>
          <a:lstStyle/>
          <a:p>
            <a:pPr algn="ctr" indent="0" marL="0">
              <a:lnSpc>
                <a:spcPct val="100000"/>
              </a:lnSpc>
              <a:buNone/>
            </a:pPr>
            <a:r>
              <a:rPr lang="en-US" sz="2000" dirty="0">
                <a:solidFill>
                  <a:srgbClr val="FFFFFF"/>
                </a:solidFill>
                <a:latin typeface="Gloock" pitchFamily="34" charset="0"/>
                <a:ea typeface="Gloock" pitchFamily="34" charset="-122"/>
                <a:cs typeface="Gloock" pitchFamily="34" charset="-120"/>
              </a:rPr>
              <a:t>4</a:t>
            </a:r>
            <a:endParaRPr lang="en-US" sz="2000" dirty="0"/>
          </a:p>
        </p:txBody>
      </p:sp>
      <p:sp>
        <p:nvSpPr>
          <p:cNvPr id="22" name="Text 19"/>
          <p:cNvSpPr txBox="1"/>
          <p:nvPr/>
        </p:nvSpPr>
        <p:spPr>
          <a:xfrm>
            <a:off x="6852514" y="2203704"/>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Ajustar</a:t>
            </a:r>
            <a:endParaRPr lang="en-US" sz="1400" dirty="0"/>
          </a:p>
        </p:txBody>
      </p:sp>
      <p:sp>
        <p:nvSpPr>
          <p:cNvPr id="23" name="Text 20"/>
          <p:cNvSpPr txBox="1"/>
          <p:nvPr/>
        </p:nvSpPr>
        <p:spPr>
          <a:xfrm>
            <a:off x="6852514" y="2569464"/>
            <a:ext cx="1463040" cy="950976"/>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Lo que no salió como se esperaba.</a:t>
            </a:r>
            <a:endParaRPr lang="en-US" sz="1200" dirty="0"/>
          </a:p>
        </p:txBody>
      </p:sp>
      <p:sp>
        <p:nvSpPr>
          <p:cNvPr id="24" name="Shape 21"/>
          <p:cNvSpPr/>
          <p:nvPr/>
        </p:nvSpPr>
        <p:spPr>
          <a:xfrm>
            <a:off x="634594" y="3840480"/>
            <a:ext cx="7887614" cy="594360"/>
          </a:xfrm>
          <a:prstGeom prst="roundRect">
            <a:avLst>
              <a:gd name="adj" fmla="val 19231"/>
            </a:avLst>
          </a:prstGeom>
          <a:solidFill>
            <a:srgbClr val="EEEFFE"/>
          </a:solidFill>
          <a:ln/>
        </p:spPr>
      </p:sp>
      <p:sp>
        <p:nvSpPr>
          <p:cNvPr id="25" name="Text 22"/>
          <p:cNvSpPr txBox="1"/>
          <p:nvPr/>
        </p:nvSpPr>
        <p:spPr>
          <a:xfrm>
            <a:off x="863194" y="384048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Empezar por un proceso frecuente, aburrido y con reglas claras.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Una skill que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mejora con el uso</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necesita validación antes de cambiar</a:t>
            </a:r>
            <a:endParaRPr lang="en-US" sz="1800" dirty="0"/>
          </a:p>
        </p:txBody>
      </p:sp>
      <p:sp>
        <p:nvSpPr>
          <p:cNvPr id="4" name="Shape 1"/>
          <p:cNvSpPr/>
          <p:nvPr/>
        </p:nvSpPr>
        <p:spPr>
          <a:xfrm>
            <a:off x="634594" y="1371600"/>
            <a:ext cx="3108960" cy="3017520"/>
          </a:xfrm>
          <a:prstGeom prst="roundRect">
            <a:avLst>
              <a:gd name="adj" fmla="val 3788"/>
            </a:avLst>
          </a:prstGeom>
          <a:solidFill>
            <a:srgbClr val="3333FF"/>
          </a:solidFill>
          <a:ln/>
        </p:spPr>
      </p:sp>
      <p:sp>
        <p:nvSpPr>
          <p:cNvPr id="5" name="Text 2"/>
          <p:cNvSpPr txBox="1"/>
          <p:nvPr/>
        </p:nvSpPr>
        <p:spPr>
          <a:xfrm>
            <a:off x="908914" y="1645920"/>
            <a:ext cx="2560320" cy="2468880"/>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DM Sans SemiBold" pitchFamily="34" charset="0"/>
                <a:ea typeface="DM Sans SemiBold" pitchFamily="34" charset="-122"/>
                <a:cs typeface="DM Sans SemiBold" pitchFamily="34" charset="-120"/>
              </a:rPr>
              <a:t>Mejorar la skill es parte del uso, pero no a costa de la calidad.</a:t>
            </a:r>
            <a:endParaRPr lang="en-US" sz="1600" dirty="0"/>
          </a:p>
        </p:txBody>
      </p:sp>
      <p:sp>
        <p:nvSpPr>
          <p:cNvPr id="6" name="Text 3"/>
          <p:cNvSpPr txBox="1"/>
          <p:nvPr/>
        </p:nvSpPr>
        <p:spPr>
          <a:xfrm>
            <a:off x="4023360" y="155448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Detectar la mejora</a:t>
            </a:r>
            <a:endParaRPr lang="en-US" sz="1250" dirty="0"/>
          </a:p>
        </p:txBody>
      </p:sp>
      <p:sp>
        <p:nvSpPr>
          <p:cNvPr id="7" name="Text 4"/>
          <p:cNvSpPr txBox="1"/>
          <p:nvPr/>
        </p:nvSpPr>
        <p:spPr>
          <a:xfrm>
            <a:off x="4023360" y="184708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Un paso que sobra, un dato que falta.</a:t>
            </a:r>
            <a:endParaRPr lang="en-US" sz="1050" dirty="0"/>
          </a:p>
        </p:txBody>
      </p:sp>
      <p:sp>
        <p:nvSpPr>
          <p:cNvPr id="8" name="Shape 5"/>
          <p:cNvSpPr/>
          <p:nvPr/>
        </p:nvSpPr>
        <p:spPr>
          <a:xfrm>
            <a:off x="4023360" y="2377440"/>
            <a:ext cx="4498848" cy="0"/>
          </a:xfrm>
          <a:prstGeom prst="line">
            <a:avLst/>
          </a:prstGeom>
          <a:noFill/>
          <a:ln w="12700">
            <a:solidFill>
              <a:srgbClr val="E4E4E4"/>
            </a:solidFill>
            <a:prstDash val="solid"/>
          </a:ln>
        </p:spPr>
      </p:sp>
      <p:sp>
        <p:nvSpPr>
          <p:cNvPr id="9" name="Text 6"/>
          <p:cNvSpPr txBox="1"/>
          <p:nvPr/>
        </p:nvSpPr>
        <p:spPr>
          <a:xfrm>
            <a:off x="4023360" y="256032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Validar antes de aplicar</a:t>
            </a:r>
            <a:endParaRPr lang="en-US" sz="1250" dirty="0"/>
          </a:p>
        </p:txBody>
      </p:sp>
      <p:sp>
        <p:nvSpPr>
          <p:cNvPr id="10" name="Text 7"/>
          <p:cNvSpPr txBox="1"/>
          <p:nvPr/>
        </p:nvSpPr>
        <p:spPr>
          <a:xfrm>
            <a:off x="4023360" y="285292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Confirmar que el cambio no empeora la calidad de los datos ni altera el flujo.</a:t>
            </a:r>
            <a:endParaRPr lang="en-US" sz="1050" dirty="0"/>
          </a:p>
        </p:txBody>
      </p:sp>
      <p:sp>
        <p:nvSpPr>
          <p:cNvPr id="11" name="Shape 8"/>
          <p:cNvSpPr/>
          <p:nvPr/>
        </p:nvSpPr>
        <p:spPr>
          <a:xfrm>
            <a:off x="4023360" y="3383280"/>
            <a:ext cx="4498848" cy="0"/>
          </a:xfrm>
          <a:prstGeom prst="line">
            <a:avLst/>
          </a:prstGeom>
          <a:noFill/>
          <a:ln w="12700">
            <a:solidFill>
              <a:srgbClr val="E4E4E4"/>
            </a:solidFill>
            <a:prstDash val="solid"/>
          </a:ln>
        </p:spPr>
      </p:sp>
      <p:sp>
        <p:nvSpPr>
          <p:cNvPr id="12" name="Text 9"/>
          <p:cNvSpPr txBox="1"/>
          <p:nvPr/>
        </p:nvSpPr>
        <p:spPr>
          <a:xfrm>
            <a:off x="4023360" y="356616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La calidad manda</a:t>
            </a:r>
            <a:endParaRPr lang="en-US" sz="1250" dirty="0"/>
          </a:p>
        </p:txBody>
      </p:sp>
      <p:sp>
        <p:nvSpPr>
          <p:cNvPr id="13" name="Text 10"/>
          <p:cNvSpPr txBox="1"/>
          <p:nvPr/>
        </p:nvSpPr>
        <p:spPr>
          <a:xfrm>
            <a:off x="4023360" y="385876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La eficiencia nunca va en contra de la calidad del proceso.</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04</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Conectores</a:t>
            </a:r>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 y plugins</a:t>
            </a:r>
            <a:endParaRPr lang="en-US" sz="4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Los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conectores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llevan Claude a Drive, Sheets, Gmail y Slack</a:t>
            </a:r>
            <a:endParaRPr lang="en-US" sz="1800" dirty="0"/>
          </a:p>
        </p:txBody>
      </p:sp>
      <p:sp>
        <p:nvSpPr>
          <p:cNvPr id="4" name="Shape 1"/>
          <p:cNvSpPr/>
          <p:nvPr/>
        </p:nvSpPr>
        <p:spPr>
          <a:xfrm>
            <a:off x="634594" y="1371600"/>
            <a:ext cx="1828800" cy="1554480"/>
          </a:xfrm>
          <a:prstGeom prst="roundRect">
            <a:avLst>
              <a:gd name="adj" fmla="val 7353"/>
            </a:avLst>
          </a:prstGeom>
          <a:solidFill>
            <a:srgbClr val="EEEFFE"/>
          </a:solidFill>
          <a:ln/>
        </p:spPr>
      </p:sp>
      <p:sp>
        <p:nvSpPr>
          <p:cNvPr id="5" name="Text 2"/>
          <p:cNvSpPr txBox="1"/>
          <p:nvPr/>
        </p:nvSpPr>
        <p:spPr>
          <a:xfrm>
            <a:off x="817474" y="1600200"/>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Drive</a:t>
            </a:r>
            <a:endParaRPr lang="en-US" sz="1400" dirty="0"/>
          </a:p>
        </p:txBody>
      </p:sp>
      <p:sp>
        <p:nvSpPr>
          <p:cNvPr id="6" name="Text 3"/>
          <p:cNvSpPr txBox="1"/>
          <p:nvPr/>
        </p:nvSpPr>
        <p:spPr>
          <a:xfrm>
            <a:off x="817474" y="1965960"/>
            <a:ext cx="1463040" cy="82296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Buscar y leer archivos.</a:t>
            </a:r>
            <a:endParaRPr lang="en-US" sz="1200" dirty="0"/>
          </a:p>
        </p:txBody>
      </p:sp>
      <p:sp>
        <p:nvSpPr>
          <p:cNvPr id="7" name="Shape 4"/>
          <p:cNvSpPr/>
          <p:nvPr/>
        </p:nvSpPr>
        <p:spPr>
          <a:xfrm>
            <a:off x="2646274" y="1371600"/>
            <a:ext cx="1828800" cy="1554480"/>
          </a:xfrm>
          <a:prstGeom prst="roundRect">
            <a:avLst>
              <a:gd name="adj" fmla="val 7353"/>
            </a:avLst>
          </a:prstGeom>
          <a:solidFill>
            <a:srgbClr val="EEEFFE"/>
          </a:solidFill>
          <a:ln/>
        </p:spPr>
      </p:sp>
      <p:sp>
        <p:nvSpPr>
          <p:cNvPr id="8" name="Text 5"/>
          <p:cNvSpPr txBox="1"/>
          <p:nvPr/>
        </p:nvSpPr>
        <p:spPr>
          <a:xfrm>
            <a:off x="2829154" y="1600200"/>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Sheets</a:t>
            </a:r>
            <a:endParaRPr lang="en-US" sz="1400" dirty="0"/>
          </a:p>
        </p:txBody>
      </p:sp>
      <p:sp>
        <p:nvSpPr>
          <p:cNvPr id="9" name="Text 6"/>
          <p:cNvSpPr txBox="1"/>
          <p:nvPr/>
        </p:nvSpPr>
        <p:spPr>
          <a:xfrm>
            <a:off x="2829154" y="1965960"/>
            <a:ext cx="1463040" cy="82296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Leer una hoja sin copiar y pegar.</a:t>
            </a:r>
            <a:endParaRPr lang="en-US" sz="1200" dirty="0"/>
          </a:p>
        </p:txBody>
      </p:sp>
      <p:sp>
        <p:nvSpPr>
          <p:cNvPr id="10" name="Shape 7"/>
          <p:cNvSpPr/>
          <p:nvPr/>
        </p:nvSpPr>
        <p:spPr>
          <a:xfrm>
            <a:off x="4657954" y="1371600"/>
            <a:ext cx="1828800" cy="1554480"/>
          </a:xfrm>
          <a:prstGeom prst="roundRect">
            <a:avLst>
              <a:gd name="adj" fmla="val 7353"/>
            </a:avLst>
          </a:prstGeom>
          <a:solidFill>
            <a:srgbClr val="EEEFFE"/>
          </a:solidFill>
          <a:ln/>
        </p:spPr>
      </p:sp>
      <p:sp>
        <p:nvSpPr>
          <p:cNvPr id="11" name="Text 8"/>
          <p:cNvSpPr txBox="1"/>
          <p:nvPr/>
        </p:nvSpPr>
        <p:spPr>
          <a:xfrm>
            <a:off x="4840834" y="1600200"/>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Gmail</a:t>
            </a:r>
            <a:endParaRPr lang="en-US" sz="1400" dirty="0"/>
          </a:p>
        </p:txBody>
      </p:sp>
      <p:sp>
        <p:nvSpPr>
          <p:cNvPr id="12" name="Text 9"/>
          <p:cNvSpPr txBox="1"/>
          <p:nvPr/>
        </p:nvSpPr>
        <p:spPr>
          <a:xfrm>
            <a:off x="4840834" y="1965960"/>
            <a:ext cx="1463040" cy="82296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Buscar mails.</a:t>
            </a:r>
            <a:endParaRPr lang="en-US" sz="1200" dirty="0"/>
          </a:p>
        </p:txBody>
      </p:sp>
      <p:sp>
        <p:nvSpPr>
          <p:cNvPr id="13" name="Shape 10"/>
          <p:cNvSpPr/>
          <p:nvPr/>
        </p:nvSpPr>
        <p:spPr>
          <a:xfrm>
            <a:off x="6669634" y="1371600"/>
            <a:ext cx="1828800" cy="1554480"/>
          </a:xfrm>
          <a:prstGeom prst="roundRect">
            <a:avLst>
              <a:gd name="adj" fmla="val 7353"/>
            </a:avLst>
          </a:prstGeom>
          <a:solidFill>
            <a:srgbClr val="EEEFFE"/>
          </a:solidFill>
          <a:ln/>
        </p:spPr>
      </p:sp>
      <p:sp>
        <p:nvSpPr>
          <p:cNvPr id="14" name="Text 11"/>
          <p:cNvSpPr txBox="1"/>
          <p:nvPr/>
        </p:nvSpPr>
        <p:spPr>
          <a:xfrm>
            <a:off x="6852514" y="1600200"/>
            <a:ext cx="146304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Slack</a:t>
            </a:r>
            <a:endParaRPr lang="en-US" sz="1400" dirty="0"/>
          </a:p>
        </p:txBody>
      </p:sp>
      <p:sp>
        <p:nvSpPr>
          <p:cNvPr id="15" name="Text 12"/>
          <p:cNvSpPr txBox="1"/>
          <p:nvPr/>
        </p:nvSpPr>
        <p:spPr>
          <a:xfrm>
            <a:off x="6852514" y="1965960"/>
            <a:ext cx="1463040" cy="82296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Revisar un canal.</a:t>
            </a:r>
            <a:endParaRPr lang="en-US" sz="1200" dirty="0"/>
          </a:p>
        </p:txBody>
      </p:sp>
      <p:sp>
        <p:nvSpPr>
          <p:cNvPr id="16" name="Shape 13"/>
          <p:cNvSpPr/>
          <p:nvPr/>
        </p:nvSpPr>
        <p:spPr>
          <a:xfrm>
            <a:off x="634594" y="3154680"/>
            <a:ext cx="7887614" cy="640080"/>
          </a:xfrm>
          <a:prstGeom prst="roundRect">
            <a:avLst>
              <a:gd name="adj" fmla="val 17857"/>
            </a:avLst>
          </a:prstGeom>
          <a:solidFill>
            <a:srgbClr val="EEEFFE"/>
          </a:solidFill>
          <a:ln/>
        </p:spPr>
      </p:sp>
      <p:sp>
        <p:nvSpPr>
          <p:cNvPr id="17" name="Text 14"/>
          <p:cNvSpPr txBox="1"/>
          <p:nvPr/>
        </p:nvSpPr>
        <p:spPr>
          <a:xfrm>
            <a:off x="863194" y="3154680"/>
            <a:ext cx="7430414" cy="64008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Cada conector pide iniciar sesión: Claude solo ve lo que vos ya podés ver.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Con conector Claude deja de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opinar</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y empieza a ejecutar</a:t>
            </a:r>
            <a:endParaRPr lang="en-US" sz="1800" dirty="0"/>
          </a:p>
        </p:txBody>
      </p:sp>
      <p:sp>
        <p:nvSpPr>
          <p:cNvPr id="4" name="Shape 1"/>
          <p:cNvSpPr/>
          <p:nvPr/>
        </p:nvSpPr>
        <p:spPr>
          <a:xfrm>
            <a:off x="634594" y="1371600"/>
            <a:ext cx="3822192" cy="2011680"/>
          </a:xfrm>
          <a:prstGeom prst="roundRect">
            <a:avLst>
              <a:gd name="adj" fmla="val 5682"/>
            </a:avLst>
          </a:prstGeom>
          <a:solidFill>
            <a:srgbClr val="EFEFEF"/>
          </a:solidFill>
          <a:ln/>
        </p:spPr>
      </p:sp>
      <p:sp>
        <p:nvSpPr>
          <p:cNvPr id="5" name="Text 2"/>
          <p:cNvSpPr txBox="1"/>
          <p:nvPr/>
        </p:nvSpPr>
        <p:spPr>
          <a:xfrm>
            <a:off x="908914" y="1600200"/>
            <a:ext cx="3273552" cy="2743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Sin conector</a:t>
            </a:r>
            <a:endParaRPr lang="en-US" sz="1400" dirty="0"/>
          </a:p>
        </p:txBody>
      </p:sp>
      <p:sp>
        <p:nvSpPr>
          <p:cNvPr id="6" name="Text 3"/>
          <p:cNvSpPr txBox="1"/>
          <p:nvPr/>
        </p:nvSpPr>
        <p:spPr>
          <a:xfrm>
            <a:off x="908914" y="2057400"/>
            <a:ext cx="3273552" cy="1143000"/>
          </a:xfrm>
          <a:prstGeom prst="rect">
            <a:avLst/>
          </a:prstGeom>
          <a:noFill/>
          <a:ln/>
        </p:spPr>
        <p:txBody>
          <a:bodyPr wrap="square" lIns="0" tIns="0" rIns="0" bIns="0" rtlCol="0" anchor="t"/>
          <a:lstStyle/>
          <a:p>
            <a:pPr algn="l" marL="342900" indent="-342900">
              <a:lnSpc>
                <a:spcPct val="100000"/>
              </a:lnSpc>
              <a:spcAft>
                <a:spcPts val="800"/>
              </a:spcAft>
              <a:buSzPct val="100000"/>
              <a:buChar char="•"/>
            </a:pPr>
            <a:r>
              <a:rPr lang="en-US" sz="1200" dirty="0">
                <a:solidFill>
                  <a:srgbClr val="333333"/>
                </a:solidFill>
                <a:latin typeface="DM Sans" pitchFamily="34" charset="0"/>
                <a:ea typeface="DM Sans" pitchFamily="34" charset="-122"/>
                <a:cs typeface="DM Sans" pitchFamily="34" charset="-120"/>
              </a:rPr>
              <a:t>Opina sobre lo que yo le pego</a:t>
            </a:r>
            <a:endParaRPr lang="en-US" sz="1200" dirty="0"/>
          </a:p>
          <a:p>
            <a:pPr algn="l" marL="342900" indent="-342900">
              <a:lnSpc>
                <a:spcPct val="100000"/>
              </a:lnSpc>
              <a:spcAft>
                <a:spcPts val="800"/>
              </a:spcAft>
              <a:buSzPct val="100000"/>
              <a:buChar char="•"/>
            </a:pPr>
            <a:r>
              <a:rPr lang="en-US" sz="1200" dirty="0">
                <a:solidFill>
                  <a:srgbClr val="333333"/>
                </a:solidFill>
                <a:latin typeface="DM Sans" pitchFamily="34" charset="0"/>
                <a:ea typeface="DM Sans" pitchFamily="34" charset="-122"/>
                <a:cs typeface="DM Sans" pitchFamily="34" charset="-120"/>
              </a:rPr>
              <a:t>Copiar y pegar cada vez</a:t>
            </a:r>
            <a:endParaRPr lang="en-US" sz="1200" dirty="0"/>
          </a:p>
        </p:txBody>
      </p:sp>
      <p:sp>
        <p:nvSpPr>
          <p:cNvPr id="7" name="Shape 4"/>
          <p:cNvSpPr/>
          <p:nvPr/>
        </p:nvSpPr>
        <p:spPr>
          <a:xfrm>
            <a:off x="4676242" y="1371600"/>
            <a:ext cx="3822192" cy="2011680"/>
          </a:xfrm>
          <a:prstGeom prst="roundRect">
            <a:avLst>
              <a:gd name="adj" fmla="val 5682"/>
            </a:avLst>
          </a:prstGeom>
          <a:solidFill>
            <a:srgbClr val="3333FF"/>
          </a:solidFill>
          <a:ln/>
        </p:spPr>
      </p:sp>
      <p:sp>
        <p:nvSpPr>
          <p:cNvPr id="8" name="Text 5"/>
          <p:cNvSpPr txBox="1"/>
          <p:nvPr/>
        </p:nvSpPr>
        <p:spPr>
          <a:xfrm>
            <a:off x="4950562" y="1600200"/>
            <a:ext cx="3273552" cy="274320"/>
          </a:xfrm>
          <a:prstGeom prst="rect">
            <a:avLst/>
          </a:prstGeom>
          <a:noFill/>
          <a:ln/>
        </p:spPr>
        <p:txBody>
          <a:bodyPr wrap="square" lIns="0" tIns="0" rIns="0" bIns="0" rtlCol="0" anchor="t"/>
          <a:lstStyle/>
          <a:p>
            <a:pPr algn="l"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Con conector</a:t>
            </a:r>
            <a:endParaRPr lang="en-US" sz="1400" dirty="0"/>
          </a:p>
        </p:txBody>
      </p:sp>
      <p:sp>
        <p:nvSpPr>
          <p:cNvPr id="9" name="Text 6"/>
          <p:cNvSpPr txBox="1"/>
          <p:nvPr/>
        </p:nvSpPr>
        <p:spPr>
          <a:xfrm>
            <a:off x="4950562" y="2057400"/>
            <a:ext cx="3273552" cy="1143000"/>
          </a:xfrm>
          <a:prstGeom prst="rect">
            <a:avLst/>
          </a:prstGeom>
          <a:noFill/>
          <a:ln/>
        </p:spPr>
        <p:txBody>
          <a:bodyPr wrap="square" lIns="0" tIns="0" rIns="0" bIns="0" rtlCol="0" anchor="t"/>
          <a:lstStyle/>
          <a:p>
            <a:pPr algn="l" marL="342900" indent="-342900">
              <a:lnSpc>
                <a:spcPct val="100000"/>
              </a:lnSpc>
              <a:spcAft>
                <a:spcPts val="800"/>
              </a:spcAft>
              <a:buSzPct val="100000"/>
              <a:buChar char="•"/>
            </a:pPr>
            <a:r>
              <a:rPr lang="en-US" sz="1200" dirty="0">
                <a:solidFill>
                  <a:srgbClr val="FFFFFF"/>
                </a:solidFill>
                <a:latin typeface="DM Sans" pitchFamily="34" charset="0"/>
                <a:ea typeface="DM Sans" pitchFamily="34" charset="-122"/>
                <a:cs typeface="DM Sans" pitchFamily="34" charset="-120"/>
              </a:rPr>
              <a:t>Consulta la fuente</a:t>
            </a:r>
            <a:endParaRPr lang="en-US" sz="1200" dirty="0"/>
          </a:p>
          <a:p>
            <a:pPr algn="l" marL="342900" indent="-342900">
              <a:lnSpc>
                <a:spcPct val="100000"/>
              </a:lnSpc>
              <a:spcAft>
                <a:spcPts val="800"/>
              </a:spcAft>
              <a:buSzPct val="100000"/>
              <a:buChar char="•"/>
            </a:pPr>
            <a:r>
              <a:rPr lang="en-US" sz="1200" dirty="0">
                <a:solidFill>
                  <a:srgbClr val="FFFFFF"/>
                </a:solidFill>
                <a:latin typeface="DM Sans" pitchFamily="34" charset="0"/>
                <a:ea typeface="DM Sans" pitchFamily="34" charset="-122"/>
                <a:cs typeface="DM Sans" pitchFamily="34" charset="-120"/>
              </a:rPr>
              <a:t>Hace la tarea</a:t>
            </a:r>
            <a:endParaRPr lang="en-US" sz="1200" dirty="0"/>
          </a:p>
          <a:p>
            <a:pPr algn="l" marL="342900" indent="-342900">
              <a:lnSpc>
                <a:spcPct val="100000"/>
              </a:lnSpc>
              <a:spcAft>
                <a:spcPts val="800"/>
              </a:spcAft>
              <a:buSzPct val="100000"/>
              <a:buChar char="•"/>
            </a:pPr>
            <a:r>
              <a:rPr lang="en-US" sz="1200" dirty="0">
                <a:solidFill>
                  <a:srgbClr val="FFFFFF"/>
                </a:solidFill>
                <a:latin typeface="DM Sans" pitchFamily="34" charset="0"/>
                <a:ea typeface="DM Sans" pitchFamily="34" charset="-122"/>
                <a:cs typeface="DM Sans" pitchFamily="34" charset="-120"/>
              </a:rPr>
              <a:t>Deja el resultado en el lugar correcto</a:t>
            </a:r>
            <a:endParaRPr lang="en-US" sz="1200" dirty="0"/>
          </a:p>
        </p:txBody>
      </p:sp>
      <p:sp>
        <p:nvSpPr>
          <p:cNvPr id="10" name="Text 7"/>
          <p:cNvSpPr txBox="1"/>
          <p:nvPr/>
        </p:nvSpPr>
        <p:spPr>
          <a:xfrm>
            <a:off x="634594" y="3611880"/>
            <a:ext cx="7863840" cy="45720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Ejemplo: «buscá los mails de negociación spot de esta semana y volcá los datos en la hoja»</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plugin</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empaqueta skills, conectores y comandos en un solo paquete</a:t>
            </a:r>
            <a:endParaRPr lang="en-US" sz="1800" dirty="0"/>
          </a:p>
        </p:txBody>
      </p:sp>
      <p:sp>
        <p:nvSpPr>
          <p:cNvPr id="4" name="Shape 1"/>
          <p:cNvSpPr/>
          <p:nvPr/>
        </p:nvSpPr>
        <p:spPr>
          <a:xfrm>
            <a:off x="634594" y="2235708"/>
            <a:ext cx="2011680" cy="822960"/>
          </a:xfrm>
          <a:prstGeom prst="roundRect">
            <a:avLst>
              <a:gd name="adj" fmla="val 13889"/>
            </a:avLst>
          </a:prstGeom>
          <a:solidFill>
            <a:srgbClr val="3333FF"/>
          </a:solidFill>
          <a:ln/>
        </p:spPr>
      </p:sp>
      <p:sp>
        <p:nvSpPr>
          <p:cNvPr id="5" name="Text 2"/>
          <p:cNvSpPr txBox="1"/>
          <p:nvPr/>
        </p:nvSpPr>
        <p:spPr>
          <a:xfrm>
            <a:off x="771754" y="2235708"/>
            <a:ext cx="1737360" cy="822960"/>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Plugin</a:t>
            </a:r>
            <a:endParaRPr lang="en-US" sz="1400" dirty="0"/>
          </a:p>
        </p:txBody>
      </p:sp>
      <p:sp>
        <p:nvSpPr>
          <p:cNvPr id="6" name="Shape 3"/>
          <p:cNvSpPr/>
          <p:nvPr/>
        </p:nvSpPr>
        <p:spPr>
          <a:xfrm>
            <a:off x="2646274" y="2647188"/>
            <a:ext cx="737006" cy="0"/>
          </a:xfrm>
          <a:prstGeom prst="line">
            <a:avLst/>
          </a:prstGeom>
          <a:noFill/>
          <a:ln w="12700">
            <a:solidFill>
              <a:srgbClr val="9E9E9E"/>
            </a:solidFill>
            <a:prstDash val="solid"/>
          </a:ln>
        </p:spPr>
      </p:sp>
      <p:sp>
        <p:nvSpPr>
          <p:cNvPr id="7" name="Shape 4"/>
          <p:cNvSpPr/>
          <p:nvPr/>
        </p:nvSpPr>
        <p:spPr>
          <a:xfrm>
            <a:off x="3383280" y="1760220"/>
            <a:ext cx="0" cy="1773936"/>
          </a:xfrm>
          <a:prstGeom prst="line">
            <a:avLst/>
          </a:prstGeom>
          <a:noFill/>
          <a:ln w="12700">
            <a:solidFill>
              <a:srgbClr val="9E9E9E"/>
            </a:solidFill>
            <a:prstDash val="solid"/>
          </a:ln>
        </p:spPr>
      </p:sp>
      <p:sp>
        <p:nvSpPr>
          <p:cNvPr id="8" name="Shape 5"/>
          <p:cNvSpPr/>
          <p:nvPr/>
        </p:nvSpPr>
        <p:spPr>
          <a:xfrm>
            <a:off x="3383280" y="1760220"/>
            <a:ext cx="804672" cy="0"/>
          </a:xfrm>
          <a:prstGeom prst="line">
            <a:avLst/>
          </a:prstGeom>
          <a:noFill/>
          <a:ln w="12700">
            <a:solidFill>
              <a:srgbClr val="9E9E9E"/>
            </a:solidFill>
            <a:prstDash val="solid"/>
          </a:ln>
        </p:spPr>
      </p:sp>
      <p:sp>
        <p:nvSpPr>
          <p:cNvPr id="9" name="Shape 6"/>
          <p:cNvSpPr/>
          <p:nvPr/>
        </p:nvSpPr>
        <p:spPr>
          <a:xfrm>
            <a:off x="4187952" y="1371600"/>
            <a:ext cx="4334256" cy="777240"/>
          </a:xfrm>
          <a:prstGeom prst="roundRect">
            <a:avLst>
              <a:gd name="adj" fmla="val 14706"/>
            </a:avLst>
          </a:prstGeom>
          <a:solidFill>
            <a:srgbClr val="EEEFFE"/>
          </a:solidFill>
          <a:ln/>
        </p:spPr>
      </p:sp>
      <p:sp>
        <p:nvSpPr>
          <p:cNvPr id="10" name="Text 7"/>
          <p:cNvSpPr txBox="1"/>
          <p:nvPr/>
        </p:nvSpPr>
        <p:spPr>
          <a:xfrm>
            <a:off x="4416552" y="148132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Skills</a:t>
            </a:r>
            <a:endParaRPr lang="en-US" sz="1300" dirty="0"/>
          </a:p>
        </p:txBody>
      </p:sp>
      <p:sp>
        <p:nvSpPr>
          <p:cNvPr id="11" name="Text 8"/>
          <p:cNvSpPr txBox="1"/>
          <p:nvPr/>
        </p:nvSpPr>
        <p:spPr>
          <a:xfrm>
            <a:off x="4416552" y="1755648"/>
            <a:ext cx="3877056" cy="32004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Los procedimientos que Claude carga cuando hacen falta.</a:t>
            </a:r>
            <a:endParaRPr lang="en-US" sz="1050" dirty="0"/>
          </a:p>
        </p:txBody>
      </p:sp>
      <p:sp>
        <p:nvSpPr>
          <p:cNvPr id="12" name="Shape 9"/>
          <p:cNvSpPr/>
          <p:nvPr/>
        </p:nvSpPr>
        <p:spPr>
          <a:xfrm>
            <a:off x="3383280" y="2647188"/>
            <a:ext cx="804672" cy="0"/>
          </a:xfrm>
          <a:prstGeom prst="line">
            <a:avLst/>
          </a:prstGeom>
          <a:noFill/>
          <a:ln w="12700">
            <a:solidFill>
              <a:srgbClr val="9E9E9E"/>
            </a:solidFill>
            <a:prstDash val="solid"/>
          </a:ln>
        </p:spPr>
      </p:sp>
      <p:sp>
        <p:nvSpPr>
          <p:cNvPr id="13" name="Shape 10"/>
          <p:cNvSpPr/>
          <p:nvPr/>
        </p:nvSpPr>
        <p:spPr>
          <a:xfrm>
            <a:off x="4187952" y="2258568"/>
            <a:ext cx="4334256" cy="777240"/>
          </a:xfrm>
          <a:prstGeom prst="roundRect">
            <a:avLst>
              <a:gd name="adj" fmla="val 14706"/>
            </a:avLst>
          </a:prstGeom>
          <a:solidFill>
            <a:srgbClr val="EEEFFE"/>
          </a:solidFill>
          <a:ln/>
        </p:spPr>
      </p:sp>
      <p:sp>
        <p:nvSpPr>
          <p:cNvPr id="14" name="Text 11"/>
          <p:cNvSpPr txBox="1"/>
          <p:nvPr/>
        </p:nvSpPr>
        <p:spPr>
          <a:xfrm>
            <a:off x="4416552" y="2368296"/>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Conectores</a:t>
            </a:r>
            <a:endParaRPr lang="en-US" sz="1300" dirty="0"/>
          </a:p>
        </p:txBody>
      </p:sp>
      <p:sp>
        <p:nvSpPr>
          <p:cNvPr id="15" name="Text 12"/>
          <p:cNvSpPr txBox="1"/>
          <p:nvPr/>
        </p:nvSpPr>
        <p:spPr>
          <a:xfrm>
            <a:off x="4416552" y="2642616"/>
            <a:ext cx="3877056" cy="32004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Se conectan aparte: instalar el plugin no los conecta.</a:t>
            </a:r>
            <a:endParaRPr lang="en-US" sz="1050" dirty="0"/>
          </a:p>
        </p:txBody>
      </p:sp>
      <p:sp>
        <p:nvSpPr>
          <p:cNvPr id="16" name="Shape 13"/>
          <p:cNvSpPr/>
          <p:nvPr/>
        </p:nvSpPr>
        <p:spPr>
          <a:xfrm>
            <a:off x="3383280" y="3534156"/>
            <a:ext cx="804672" cy="0"/>
          </a:xfrm>
          <a:prstGeom prst="line">
            <a:avLst/>
          </a:prstGeom>
          <a:noFill/>
          <a:ln w="12700">
            <a:solidFill>
              <a:srgbClr val="9E9E9E"/>
            </a:solidFill>
            <a:prstDash val="solid"/>
          </a:ln>
        </p:spPr>
      </p:sp>
      <p:sp>
        <p:nvSpPr>
          <p:cNvPr id="17" name="Shape 14"/>
          <p:cNvSpPr/>
          <p:nvPr/>
        </p:nvSpPr>
        <p:spPr>
          <a:xfrm>
            <a:off x="4187952" y="3145536"/>
            <a:ext cx="4334256" cy="777240"/>
          </a:xfrm>
          <a:prstGeom prst="roundRect">
            <a:avLst>
              <a:gd name="adj" fmla="val 14706"/>
            </a:avLst>
          </a:prstGeom>
          <a:solidFill>
            <a:srgbClr val="EEEFFE"/>
          </a:solidFill>
          <a:ln/>
        </p:spPr>
      </p:sp>
      <p:sp>
        <p:nvSpPr>
          <p:cNvPr id="18" name="Text 15"/>
          <p:cNvSpPr txBox="1"/>
          <p:nvPr/>
        </p:nvSpPr>
        <p:spPr>
          <a:xfrm>
            <a:off x="4416552" y="3255264"/>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Comandos y agentes especializados</a:t>
            </a:r>
            <a:endParaRPr lang="en-US" sz="1300" dirty="0"/>
          </a:p>
        </p:txBody>
      </p:sp>
      <p:sp>
        <p:nvSpPr>
          <p:cNvPr id="19" name="Text 16"/>
          <p:cNvSpPr txBox="1"/>
          <p:nvPr/>
        </p:nvSpPr>
        <p:spPr>
          <a:xfrm>
            <a:off x="4416552" y="3529584"/>
            <a:ext cx="3877056" cy="320040"/>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Se instalan desde Customize, en Plugins.</a:t>
            </a:r>
            <a:endParaRPr lang="en-US" sz="1050" dirty="0"/>
          </a:p>
        </p:txBody>
      </p:sp>
      <p:sp>
        <p:nvSpPr>
          <p:cNvPr id="20" name="Shape 17"/>
          <p:cNvSpPr/>
          <p:nvPr/>
        </p:nvSpPr>
        <p:spPr>
          <a:xfrm>
            <a:off x="634594" y="4069080"/>
            <a:ext cx="7887614" cy="548640"/>
          </a:xfrm>
          <a:prstGeom prst="roundRect">
            <a:avLst>
              <a:gd name="adj" fmla="val 20833"/>
            </a:avLst>
          </a:prstGeom>
          <a:solidFill>
            <a:srgbClr val="EEEFFE"/>
          </a:solidFill>
          <a:ln/>
        </p:spPr>
      </p:sp>
      <p:sp>
        <p:nvSpPr>
          <p:cNvPr id="21" name="Text 18"/>
          <p:cNvSpPr txBox="1"/>
          <p:nvPr/>
        </p:nvSpPr>
        <p:spPr>
          <a:xfrm>
            <a:off x="863194" y="4069080"/>
            <a:ext cx="7430414" cy="54864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Instalá solo plugins de fuentes confiables. En Team y Enterprise, el administrador define cuáles hay.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05</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Cowork</a:t>
            </a:r>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 tareas programadas y Dispatch</a:t>
            </a:r>
            <a:endParaRPr lang="en-US" sz="4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Cowork</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trabaja sobre tus archivos y apps, no solo dentro del chat</a:t>
            </a:r>
            <a:endParaRPr lang="en-US" sz="1800" dirty="0"/>
          </a:p>
        </p:txBody>
      </p:sp>
      <p:sp>
        <p:nvSpPr>
          <p:cNvPr id="4" name="Shape 1"/>
          <p:cNvSpPr/>
          <p:nvPr/>
        </p:nvSpPr>
        <p:spPr>
          <a:xfrm>
            <a:off x="634594" y="1371600"/>
            <a:ext cx="3108960" cy="3017520"/>
          </a:xfrm>
          <a:prstGeom prst="roundRect">
            <a:avLst>
              <a:gd name="adj" fmla="val 3788"/>
            </a:avLst>
          </a:prstGeom>
          <a:solidFill>
            <a:srgbClr val="3333FF"/>
          </a:solidFill>
          <a:ln/>
        </p:spPr>
      </p:sp>
      <p:sp>
        <p:nvSpPr>
          <p:cNvPr id="5" name="Text 2"/>
          <p:cNvSpPr txBox="1"/>
          <p:nvPr/>
        </p:nvSpPr>
        <p:spPr>
          <a:xfrm>
            <a:off x="908914" y="1645920"/>
            <a:ext cx="2560320" cy="2468880"/>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DM Sans SemiBold" pitchFamily="34" charset="0"/>
                <a:ea typeface="DM Sans SemiBold" pitchFamily="34" charset="-122"/>
                <a:cs typeface="DM Sans SemiBold" pitchFamily="34" charset="-120"/>
              </a:rPr>
              <a:t>El modo ideal para tareas largas y de varios pasos.</a:t>
            </a:r>
            <a:endParaRPr lang="en-US" sz="1600" dirty="0"/>
          </a:p>
        </p:txBody>
      </p:sp>
      <p:sp>
        <p:nvSpPr>
          <p:cNvPr id="6" name="Text 3"/>
          <p:cNvSpPr txBox="1"/>
          <p:nvPr/>
        </p:nvSpPr>
        <p:spPr>
          <a:xfrm>
            <a:off x="4023360" y="155448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Lee una carpeta</a:t>
            </a:r>
            <a:endParaRPr lang="en-US" sz="1250" dirty="0"/>
          </a:p>
        </p:txBody>
      </p:sp>
      <p:sp>
        <p:nvSpPr>
          <p:cNvPr id="7" name="Text 4"/>
          <p:cNvSpPr txBox="1"/>
          <p:nvPr/>
        </p:nvSpPr>
        <p:spPr>
          <a:xfrm>
            <a:off x="4023360" y="184708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Procesa varios archivos de una sola vez.</a:t>
            </a:r>
            <a:endParaRPr lang="en-US" sz="1050" dirty="0"/>
          </a:p>
        </p:txBody>
      </p:sp>
      <p:sp>
        <p:nvSpPr>
          <p:cNvPr id="8" name="Shape 5"/>
          <p:cNvSpPr/>
          <p:nvPr/>
        </p:nvSpPr>
        <p:spPr>
          <a:xfrm>
            <a:off x="4023360" y="2377440"/>
            <a:ext cx="4498848" cy="0"/>
          </a:xfrm>
          <a:prstGeom prst="line">
            <a:avLst/>
          </a:prstGeom>
          <a:noFill/>
          <a:ln w="12700">
            <a:solidFill>
              <a:srgbClr val="E4E4E4"/>
            </a:solidFill>
            <a:prstDash val="solid"/>
          </a:ln>
        </p:spPr>
      </p:sp>
      <p:sp>
        <p:nvSpPr>
          <p:cNvPr id="9" name="Text 6"/>
          <p:cNvSpPr txBox="1"/>
          <p:nvPr/>
        </p:nvSpPr>
        <p:spPr>
          <a:xfrm>
            <a:off x="4023360" y="256032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Genera y guarda el resultado</a:t>
            </a:r>
            <a:endParaRPr lang="en-US" sz="1250" dirty="0"/>
          </a:p>
        </p:txBody>
      </p:sp>
      <p:sp>
        <p:nvSpPr>
          <p:cNvPr id="10" name="Text 7"/>
          <p:cNvSpPr txBox="1"/>
          <p:nvPr/>
        </p:nvSpPr>
        <p:spPr>
          <a:xfrm>
            <a:off x="4023360" y="285292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Un Excel o un documento, ya guardado.</a:t>
            </a:r>
            <a:endParaRPr lang="en-US" sz="1050" dirty="0"/>
          </a:p>
        </p:txBody>
      </p:sp>
      <p:sp>
        <p:nvSpPr>
          <p:cNvPr id="11" name="Shape 8"/>
          <p:cNvSpPr/>
          <p:nvPr/>
        </p:nvSpPr>
        <p:spPr>
          <a:xfrm>
            <a:off x="4023360" y="3383280"/>
            <a:ext cx="4498848" cy="0"/>
          </a:xfrm>
          <a:prstGeom prst="line">
            <a:avLst/>
          </a:prstGeom>
          <a:noFill/>
          <a:ln w="12700">
            <a:solidFill>
              <a:srgbClr val="E4E4E4"/>
            </a:solidFill>
            <a:prstDash val="solid"/>
          </a:ln>
        </p:spPr>
      </p:sp>
      <p:sp>
        <p:nvSpPr>
          <p:cNvPr id="12" name="Text 9"/>
          <p:cNvSpPr txBox="1"/>
          <p:nvPr/>
        </p:nvSpPr>
        <p:spPr>
          <a:xfrm>
            <a:off x="4023360" y="356616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Usa lo que ya armaste</a:t>
            </a:r>
            <a:endParaRPr lang="en-US" sz="1250" dirty="0"/>
          </a:p>
        </p:txBody>
      </p:sp>
      <p:sp>
        <p:nvSpPr>
          <p:cNvPr id="13" name="Text 10"/>
          <p:cNvSpPr txBox="1"/>
          <p:nvPr/>
        </p:nvSpPr>
        <p:spPr>
          <a:xfrm>
            <a:off x="4023360" y="385876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Las mismas skills, conectores y plugins.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Las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tareas programadas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hacen solas el trabajo repetitivo de Finanzas</a:t>
            </a:r>
            <a:endParaRPr lang="en-US" sz="1800" dirty="0"/>
          </a:p>
        </p:txBody>
      </p:sp>
      <p:sp>
        <p:nvSpPr>
          <p:cNvPr id="4" name="Shape 1"/>
          <p:cNvSpPr/>
          <p:nvPr/>
        </p:nvSpPr>
        <p:spPr>
          <a:xfrm>
            <a:off x="634594" y="1371600"/>
            <a:ext cx="2468880" cy="1737360"/>
          </a:xfrm>
          <a:prstGeom prst="roundRect">
            <a:avLst>
              <a:gd name="adj" fmla="val 6579"/>
            </a:avLst>
          </a:prstGeom>
          <a:solidFill>
            <a:srgbClr val="EEEFFE"/>
          </a:solidFill>
          <a:ln/>
        </p:spPr>
      </p:sp>
      <p:sp>
        <p:nvSpPr>
          <p:cNvPr id="5" name="Text 2"/>
          <p:cNvSpPr txBox="1"/>
          <p:nvPr/>
        </p:nvSpPr>
        <p:spPr>
          <a:xfrm>
            <a:off x="81747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Cada mañana</a:t>
            </a:r>
            <a:endParaRPr lang="en-US" sz="1400" dirty="0"/>
          </a:p>
        </p:txBody>
      </p:sp>
      <p:sp>
        <p:nvSpPr>
          <p:cNvPr id="6" name="Text 3"/>
          <p:cNvSpPr txBox="1"/>
          <p:nvPr/>
        </p:nvSpPr>
        <p:spPr>
          <a:xfrm>
            <a:off x="817474" y="1965960"/>
            <a:ext cx="2103120" cy="100584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Resumen de movimientos bancarios.</a:t>
            </a:r>
            <a:endParaRPr lang="en-US" sz="1200" dirty="0"/>
          </a:p>
        </p:txBody>
      </p:sp>
      <p:sp>
        <p:nvSpPr>
          <p:cNvPr id="7" name="Shape 4"/>
          <p:cNvSpPr/>
          <p:nvPr/>
        </p:nvSpPr>
        <p:spPr>
          <a:xfrm>
            <a:off x="3332074" y="1371600"/>
            <a:ext cx="2468880" cy="1737360"/>
          </a:xfrm>
          <a:prstGeom prst="roundRect">
            <a:avLst>
              <a:gd name="adj" fmla="val 6579"/>
            </a:avLst>
          </a:prstGeom>
          <a:solidFill>
            <a:srgbClr val="EEEFFE"/>
          </a:solidFill>
          <a:ln/>
        </p:spPr>
      </p:sp>
      <p:sp>
        <p:nvSpPr>
          <p:cNvPr id="8" name="Text 5"/>
          <p:cNvSpPr txBox="1"/>
          <p:nvPr/>
        </p:nvSpPr>
        <p:spPr>
          <a:xfrm>
            <a:off x="351495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Los viernes</a:t>
            </a:r>
            <a:endParaRPr lang="en-US" sz="1400" dirty="0"/>
          </a:p>
        </p:txBody>
      </p:sp>
      <p:sp>
        <p:nvSpPr>
          <p:cNvPr id="9" name="Text 6"/>
          <p:cNvSpPr txBox="1"/>
          <p:nvPr/>
        </p:nvSpPr>
        <p:spPr>
          <a:xfrm>
            <a:off x="3514954" y="1965960"/>
            <a:ext cx="2103120" cy="100584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Control de pendientes de pago.</a:t>
            </a:r>
            <a:endParaRPr lang="en-US" sz="1200" dirty="0"/>
          </a:p>
        </p:txBody>
      </p:sp>
      <p:sp>
        <p:nvSpPr>
          <p:cNvPr id="10" name="Shape 7"/>
          <p:cNvSpPr/>
          <p:nvPr/>
        </p:nvSpPr>
        <p:spPr>
          <a:xfrm>
            <a:off x="6029554" y="1371600"/>
            <a:ext cx="2468880" cy="1737360"/>
          </a:xfrm>
          <a:prstGeom prst="roundRect">
            <a:avLst>
              <a:gd name="adj" fmla="val 6579"/>
            </a:avLst>
          </a:prstGeom>
          <a:solidFill>
            <a:srgbClr val="EEEFFE"/>
          </a:solidFill>
          <a:ln/>
        </p:spPr>
      </p:sp>
      <p:sp>
        <p:nvSpPr>
          <p:cNvPr id="11" name="Text 8"/>
          <p:cNvSpPr txBox="1"/>
          <p:nvPr/>
        </p:nvSpPr>
        <p:spPr>
          <a:xfrm>
            <a:off x="6212434" y="1600200"/>
            <a:ext cx="2103120" cy="502920"/>
          </a:xfrm>
          <a:prstGeom prst="rect">
            <a:avLst/>
          </a:prstGeom>
          <a:noFill/>
          <a:ln/>
        </p:spPr>
        <p:txBody>
          <a:bodyPr wrap="square" lIns="0" tIns="0" rIns="0" bIns="0" rtlCol="0" anchor="t"/>
          <a:lstStyle/>
          <a:p>
            <a:pPr algn="l" indent="0" marL="0">
              <a:lnSpc>
                <a:spcPct val="100000"/>
              </a:lnSpc>
              <a:buNone/>
            </a:pPr>
            <a:r>
              <a:rPr lang="en-US" sz="1400" dirty="0">
                <a:solidFill>
                  <a:srgbClr val="3333FF"/>
                </a:solidFill>
                <a:latin typeface="DM Sans SemiBold" pitchFamily="34" charset="0"/>
                <a:ea typeface="DM Sans SemiBold" pitchFamily="34" charset="-122"/>
                <a:cs typeface="DM Sans SemiBold" pitchFamily="34" charset="-120"/>
              </a:rPr>
              <a:t>Al cierre</a:t>
            </a:r>
            <a:endParaRPr lang="en-US" sz="1400" dirty="0"/>
          </a:p>
        </p:txBody>
      </p:sp>
      <p:sp>
        <p:nvSpPr>
          <p:cNvPr id="12" name="Text 9"/>
          <p:cNvSpPr txBox="1"/>
          <p:nvPr/>
        </p:nvSpPr>
        <p:spPr>
          <a:xfrm>
            <a:off x="6212434" y="1965960"/>
            <a:ext cx="2103120" cy="1005840"/>
          </a:xfrm>
          <a:prstGeom prst="rect">
            <a:avLst/>
          </a:prstGeom>
          <a:noFill/>
          <a:ln/>
        </p:spPr>
        <p:txBody>
          <a:bodyPr wrap="square" lIns="0" tIns="0" rIns="0" bIns="0" rtlCol="0" anchor="t"/>
          <a:lstStyle/>
          <a:p>
            <a:pPr algn="l" indent="0" marL="0">
              <a:lnSpc>
                <a:spcPct val="100000"/>
              </a:lnSpc>
              <a:buNone/>
            </a:pPr>
            <a:r>
              <a:rPr lang="en-US" sz="1200" dirty="0">
                <a:solidFill>
                  <a:srgbClr val="333333"/>
                </a:solidFill>
                <a:latin typeface="DM Sans" pitchFamily="34" charset="0"/>
                <a:ea typeface="DM Sans" pitchFamily="34" charset="-122"/>
                <a:cs typeface="DM Sans" pitchFamily="34" charset="-120"/>
              </a:rPr>
              <a:t>Recordatorio de cierre.</a:t>
            </a:r>
            <a:endParaRPr lang="en-US" sz="1200" dirty="0"/>
          </a:p>
        </p:txBody>
      </p:sp>
      <p:sp>
        <p:nvSpPr>
          <p:cNvPr id="13" name="Shape 10"/>
          <p:cNvSpPr/>
          <p:nvPr/>
        </p:nvSpPr>
        <p:spPr>
          <a:xfrm>
            <a:off x="634594" y="3337560"/>
            <a:ext cx="7887614" cy="1143000"/>
          </a:xfrm>
          <a:prstGeom prst="roundRect">
            <a:avLst>
              <a:gd name="adj" fmla="val 10000"/>
            </a:avLst>
          </a:prstGeom>
          <a:solidFill>
            <a:srgbClr val="EEEFFE"/>
          </a:solidFill>
          <a:ln/>
        </p:spPr>
      </p:sp>
      <p:sp>
        <p:nvSpPr>
          <p:cNvPr id="14" name="Text 11"/>
          <p:cNvSpPr txBox="1"/>
          <p:nvPr/>
        </p:nvSpPr>
        <p:spPr>
          <a:xfrm>
            <a:off x="863194" y="3337560"/>
            <a:ext cx="7430414" cy="114300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Frecuencias: cada hora, todos los días, cada semana, solo días hábiles o manual. Cada ejecución es una sesión nueva. Con archivos o apps locales, corre solo en la computadora.</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Dispatch</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manda tareas desde el celular a tu computadora</a:t>
            </a:r>
            <a:endParaRPr lang="en-US" sz="1800" dirty="0"/>
          </a:p>
        </p:txBody>
      </p:sp>
      <p:sp>
        <p:nvSpPr>
          <p:cNvPr id="4" name="Shape 1"/>
          <p:cNvSpPr/>
          <p:nvPr/>
        </p:nvSpPr>
        <p:spPr>
          <a:xfrm>
            <a:off x="634594" y="1371600"/>
            <a:ext cx="3108960" cy="3017520"/>
          </a:xfrm>
          <a:prstGeom prst="roundRect">
            <a:avLst>
              <a:gd name="adj" fmla="val 3788"/>
            </a:avLst>
          </a:prstGeom>
          <a:solidFill>
            <a:srgbClr val="3333FF"/>
          </a:solidFill>
          <a:ln/>
        </p:spPr>
      </p:sp>
      <p:sp>
        <p:nvSpPr>
          <p:cNvPr id="5" name="Text 2"/>
          <p:cNvSpPr txBox="1"/>
          <p:nvPr/>
        </p:nvSpPr>
        <p:spPr>
          <a:xfrm>
            <a:off x="908914" y="1645920"/>
            <a:ext cx="2560320" cy="2468880"/>
          </a:xfrm>
          <a:prstGeom prst="rect">
            <a:avLst/>
          </a:prstGeom>
          <a:noFill/>
          <a:ln/>
        </p:spPr>
        <p:txBody>
          <a:bodyPr wrap="square" lIns="0" tIns="0" rIns="0" bIns="0" rtlCol="0" anchor="t"/>
          <a:lstStyle/>
          <a:p>
            <a:pPr algn="l" indent="0" marL="0">
              <a:lnSpc>
                <a:spcPct val="100000"/>
              </a:lnSpc>
              <a:buNone/>
            </a:pPr>
            <a:r>
              <a:rPr lang="en-US" sz="1600" dirty="0">
                <a:solidFill>
                  <a:srgbClr val="FFFFFF"/>
                </a:solidFill>
                <a:latin typeface="DM Sans SemiBold" pitchFamily="34" charset="0"/>
                <a:ea typeface="DM Sans SemiBold" pitchFamily="34" charset="-122"/>
                <a:cs typeface="DM Sans SemiBold" pitchFamily="34" charset="-120"/>
              </a:rPr>
              <a:t>El celular es el control remoto; la computadora hace el trabajo.</a:t>
            </a:r>
            <a:endParaRPr lang="en-US" sz="1600" dirty="0"/>
          </a:p>
        </p:txBody>
      </p:sp>
      <p:sp>
        <p:nvSpPr>
          <p:cNvPr id="6" name="Text 3"/>
          <p:cNvSpPr txBox="1"/>
          <p:nvPr/>
        </p:nvSpPr>
        <p:spPr>
          <a:xfrm>
            <a:off x="4023360" y="155448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Requiere la computadora lista</a:t>
            </a:r>
            <a:endParaRPr lang="en-US" sz="1250" dirty="0"/>
          </a:p>
        </p:txBody>
      </p:sp>
      <p:sp>
        <p:nvSpPr>
          <p:cNvPr id="7" name="Text 4"/>
          <p:cNvSpPr txBox="1"/>
          <p:nvPr/>
        </p:nvSpPr>
        <p:spPr>
          <a:xfrm>
            <a:off x="4023360" y="184708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Encendida, con la app abierta y con conexión.</a:t>
            </a:r>
            <a:endParaRPr lang="en-US" sz="1050" dirty="0"/>
          </a:p>
        </p:txBody>
      </p:sp>
      <p:sp>
        <p:nvSpPr>
          <p:cNvPr id="8" name="Shape 5"/>
          <p:cNvSpPr/>
          <p:nvPr/>
        </p:nvSpPr>
        <p:spPr>
          <a:xfrm>
            <a:off x="4023360" y="2377440"/>
            <a:ext cx="4498848" cy="0"/>
          </a:xfrm>
          <a:prstGeom prst="line">
            <a:avLst/>
          </a:prstGeom>
          <a:noFill/>
          <a:ln w="12700">
            <a:solidFill>
              <a:srgbClr val="E4E4E4"/>
            </a:solidFill>
            <a:prstDash val="solid"/>
          </a:ln>
        </p:spPr>
      </p:sp>
      <p:sp>
        <p:nvSpPr>
          <p:cNvPr id="9" name="Text 6"/>
          <p:cNvSpPr txBox="1"/>
          <p:nvPr/>
        </p:nvSpPr>
        <p:spPr>
          <a:xfrm>
            <a:off x="4023360" y="256032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Es una vista previa</a:t>
            </a:r>
            <a:endParaRPr lang="en-US" sz="1250" dirty="0"/>
          </a:p>
        </p:txBody>
      </p:sp>
      <p:sp>
        <p:nvSpPr>
          <p:cNvPr id="10" name="Text 7"/>
          <p:cNvSpPr txBox="1"/>
          <p:nvPr/>
        </p:nvSpPr>
        <p:spPr>
          <a:xfrm>
            <a:off x="4023360" y="285292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Puede fallar en tareas complejas.</a:t>
            </a:r>
            <a:endParaRPr lang="en-US" sz="1050" dirty="0"/>
          </a:p>
        </p:txBody>
      </p:sp>
      <p:sp>
        <p:nvSpPr>
          <p:cNvPr id="11" name="Shape 8"/>
          <p:cNvSpPr/>
          <p:nvPr/>
        </p:nvSpPr>
        <p:spPr>
          <a:xfrm>
            <a:off x="4023360" y="3383280"/>
            <a:ext cx="4498848" cy="0"/>
          </a:xfrm>
          <a:prstGeom prst="line">
            <a:avLst/>
          </a:prstGeom>
          <a:noFill/>
          <a:ln w="12700">
            <a:solidFill>
              <a:srgbClr val="E4E4E4"/>
            </a:solidFill>
            <a:prstDash val="solid"/>
          </a:ln>
        </p:spPr>
      </p:sp>
      <p:sp>
        <p:nvSpPr>
          <p:cNvPr id="12" name="Text 9"/>
          <p:cNvSpPr txBox="1"/>
          <p:nvPr/>
        </p:nvSpPr>
        <p:spPr>
          <a:xfrm>
            <a:off x="4023360" y="3566160"/>
            <a:ext cx="4498848" cy="274320"/>
          </a:xfrm>
          <a:prstGeom prst="rect">
            <a:avLst/>
          </a:prstGeom>
          <a:noFill/>
          <a:ln/>
        </p:spPr>
        <p:txBody>
          <a:bodyPr wrap="square" lIns="0" tIns="0" rIns="0" bIns="0" rtlCol="0" anchor="t"/>
          <a:lstStyle/>
          <a:p>
            <a:pPr algn="l" indent="0" marL="0">
              <a:lnSpc>
                <a:spcPct val="100000"/>
              </a:lnSpc>
              <a:buNone/>
            </a:pPr>
            <a:r>
              <a:rPr lang="en-US" sz="1250" dirty="0">
                <a:solidFill>
                  <a:srgbClr val="3333FF"/>
                </a:solidFill>
                <a:latin typeface="DM Sans SemiBold" pitchFamily="34" charset="0"/>
                <a:ea typeface="DM Sans SemiBold" pitchFamily="34" charset="-122"/>
                <a:cs typeface="DM Sans SemiBold" pitchFamily="34" charset="-120"/>
              </a:rPr>
              <a:t>Acotá el permiso</a:t>
            </a:r>
            <a:endParaRPr lang="en-US" sz="1250" dirty="0"/>
          </a:p>
        </p:txBody>
      </p:sp>
      <p:sp>
        <p:nvSpPr>
          <p:cNvPr id="13" name="Text 10"/>
          <p:cNvSpPr txBox="1"/>
          <p:nvPr/>
        </p:nvSpPr>
        <p:spPr>
          <a:xfrm>
            <a:off x="4023360" y="3858768"/>
            <a:ext cx="4498848" cy="43891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Puede disparar cualquier acción que Cowork tenga permitida. Con datos financieros, con más cuidado.</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34594" y="1463040"/>
            <a:ext cx="2560320" cy="2194560"/>
          </a:xfrm>
          <a:prstGeom prst="roundRect">
            <a:avLst>
              <a:gd name="adj" fmla="val 5208"/>
            </a:avLst>
          </a:prstGeom>
          <a:ln w="12700">
            <a:solidFill>
              <a:srgbClr val="666666"/>
            </a:solidFill>
            <a:prstDash val="solid"/>
          </a:ln>
        </p:spPr>
      </p:sp>
      <p:sp>
        <p:nvSpPr>
          <p:cNvPr id="3" name="Text 1"/>
          <p:cNvSpPr txBox="1"/>
          <p:nvPr/>
        </p:nvSpPr>
        <p:spPr>
          <a:xfrm>
            <a:off x="634594" y="1463040"/>
            <a:ext cx="2560320" cy="2194560"/>
          </a:xfrm>
          <a:prstGeom prst="rect">
            <a:avLst/>
          </a:prstGeom>
          <a:noFill/>
          <a:ln/>
        </p:spPr>
        <p:txBody>
          <a:bodyPr wrap="square" lIns="0" tIns="0" rIns="0" bIns="0" rtlCol="0" anchor="ctr"/>
          <a:lstStyle/>
          <a:p>
            <a:pPr algn="ctr" indent="0" marL="0">
              <a:lnSpc>
                <a:spcPct val="100000"/>
              </a:lnSpc>
              <a:buNone/>
            </a:pPr>
            <a:r>
              <a:rPr lang="en-US" sz="8000" dirty="0">
                <a:solidFill>
                  <a:srgbClr val="CCCCFF"/>
                </a:solidFill>
                <a:latin typeface="Gloock" pitchFamily="34" charset="0"/>
                <a:ea typeface="Gloock" pitchFamily="34" charset="-122"/>
                <a:cs typeface="Gloock" pitchFamily="34" charset="-120"/>
              </a:rPr>
              <a:t>06</a:t>
            </a:r>
            <a:endParaRPr lang="en-US" sz="8000" dirty="0"/>
          </a:p>
        </p:txBody>
      </p:sp>
      <p:sp>
        <p:nvSpPr>
          <p:cNvPr id="4" name="Text 2"/>
          <p:cNvSpPr txBox="1"/>
          <p:nvPr/>
        </p:nvSpPr>
        <p:spPr>
          <a:xfrm>
            <a:off x="3618281" y="1463040"/>
            <a:ext cx="5076749" cy="2194560"/>
          </a:xfrm>
          <a:prstGeom prst="rect">
            <a:avLst/>
          </a:prstGeom>
          <a:noFill/>
          <a:ln/>
        </p:spPr>
        <p:txBody>
          <a:bodyPr wrap="square" lIns="0" tIns="0" rIns="0" bIns="0" rtlCol="0" anchor="ctr"/>
          <a:lstStyle/>
          <a:p>
            <a:pPr algn="l" indent="0" marL="0">
              <a:lnSpc>
                <a:spcPct val="95000"/>
              </a:lnSpc>
              <a:buNone/>
            </a:pPr>
            <a:r>
              <a:rPr lang="en-US" sz="4500" dirty="0">
                <a:solidFill>
                  <a:srgbClr val="FFFFFF"/>
                </a:solidFill>
                <a:latin typeface="DM Sans SemiBold" pitchFamily="34" charset="0"/>
                <a:ea typeface="DM Sans SemiBold" pitchFamily="34" charset="-122"/>
                <a:cs typeface="DM Sans SemiBold" pitchFamily="34" charset="-120"/>
              </a:rPr>
              <a:t>Memoria, funciones y </a:t>
            </a:r>
            <a:pPr algn="l" indent="0" marL="0">
              <a:lnSpc>
                <a:spcPct val="95000"/>
              </a:lnSpc>
              <a:buNone/>
            </a:pPr>
            <a:r>
              <a:rPr lang="en-US" sz="4500" dirty="0">
                <a:solidFill>
                  <a:srgbClr val="CCCCFF"/>
                </a:solidFill>
                <a:latin typeface="Gloock" pitchFamily="34" charset="0"/>
                <a:ea typeface="Gloock" pitchFamily="34" charset="-122"/>
                <a:cs typeface="Gloock" pitchFamily="34" charset="-120"/>
              </a:rPr>
              <a:t>control</a:t>
            </a:r>
            <a:endParaRPr lang="en-US" sz="4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Una bóveda de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Obsidian</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le da a Claude una memoria propia y portable</a:t>
            </a:r>
            <a:endParaRPr lang="en-US" sz="1800" dirty="0"/>
          </a:p>
        </p:txBody>
      </p:sp>
      <p:sp>
        <p:nvSpPr>
          <p:cNvPr id="4" name="Shape 1"/>
          <p:cNvSpPr/>
          <p:nvPr/>
        </p:nvSpPr>
        <p:spPr>
          <a:xfrm>
            <a:off x="634594" y="2478024"/>
            <a:ext cx="2011680" cy="822960"/>
          </a:xfrm>
          <a:prstGeom prst="roundRect">
            <a:avLst>
              <a:gd name="adj" fmla="val 13889"/>
            </a:avLst>
          </a:prstGeom>
          <a:solidFill>
            <a:srgbClr val="3333FF"/>
          </a:solidFill>
          <a:ln/>
        </p:spPr>
      </p:sp>
      <p:sp>
        <p:nvSpPr>
          <p:cNvPr id="5" name="Text 2"/>
          <p:cNvSpPr txBox="1"/>
          <p:nvPr/>
        </p:nvSpPr>
        <p:spPr>
          <a:xfrm>
            <a:off x="771754" y="2478024"/>
            <a:ext cx="1737360" cy="822960"/>
          </a:xfrm>
          <a:prstGeom prst="rect">
            <a:avLst/>
          </a:prstGeom>
          <a:noFill/>
          <a:ln/>
        </p:spPr>
        <p:txBody>
          <a:bodyPr wrap="square" lIns="0" tIns="0" rIns="0" bIns="0" rtlCol="0" anchor="ctr"/>
          <a:lstStyle/>
          <a:p>
            <a:pPr algn="ctr" indent="0" marL="0">
              <a:lnSpc>
                <a:spcPct val="100000"/>
              </a:lnSpc>
              <a:buNone/>
            </a:pPr>
            <a:r>
              <a:rPr lang="en-US" sz="1400" dirty="0">
                <a:solidFill>
                  <a:srgbClr val="FFFFFF"/>
                </a:solidFill>
                <a:latin typeface="DM Sans SemiBold" pitchFamily="34" charset="0"/>
                <a:ea typeface="DM Sans SemiBold" pitchFamily="34" charset="-122"/>
                <a:cs typeface="DM Sans SemiBold" pitchFamily="34" charset="-120"/>
              </a:rPr>
              <a:t>Bóveda de Obsidian</a:t>
            </a:r>
            <a:endParaRPr lang="en-US" sz="1400" dirty="0"/>
          </a:p>
        </p:txBody>
      </p:sp>
      <p:sp>
        <p:nvSpPr>
          <p:cNvPr id="6" name="Shape 3"/>
          <p:cNvSpPr/>
          <p:nvPr/>
        </p:nvSpPr>
        <p:spPr>
          <a:xfrm>
            <a:off x="2646274" y="2889504"/>
            <a:ext cx="737006" cy="0"/>
          </a:xfrm>
          <a:prstGeom prst="line">
            <a:avLst/>
          </a:prstGeom>
          <a:noFill/>
          <a:ln w="12700">
            <a:solidFill>
              <a:srgbClr val="9E9E9E"/>
            </a:solidFill>
            <a:prstDash val="solid"/>
          </a:ln>
        </p:spPr>
      </p:sp>
      <p:sp>
        <p:nvSpPr>
          <p:cNvPr id="7" name="Shape 4"/>
          <p:cNvSpPr/>
          <p:nvPr/>
        </p:nvSpPr>
        <p:spPr>
          <a:xfrm>
            <a:off x="3383280" y="1682496"/>
            <a:ext cx="0" cy="2414016"/>
          </a:xfrm>
          <a:prstGeom prst="line">
            <a:avLst/>
          </a:prstGeom>
          <a:noFill/>
          <a:ln w="12700">
            <a:solidFill>
              <a:srgbClr val="9E9E9E"/>
            </a:solidFill>
            <a:prstDash val="solid"/>
          </a:ln>
        </p:spPr>
      </p:sp>
      <p:sp>
        <p:nvSpPr>
          <p:cNvPr id="8" name="Shape 5"/>
          <p:cNvSpPr/>
          <p:nvPr/>
        </p:nvSpPr>
        <p:spPr>
          <a:xfrm>
            <a:off x="3383280" y="1682496"/>
            <a:ext cx="804672" cy="0"/>
          </a:xfrm>
          <a:prstGeom prst="line">
            <a:avLst/>
          </a:prstGeom>
          <a:noFill/>
          <a:ln w="12700">
            <a:solidFill>
              <a:srgbClr val="9E9E9E"/>
            </a:solidFill>
            <a:prstDash val="solid"/>
          </a:ln>
        </p:spPr>
      </p:sp>
      <p:sp>
        <p:nvSpPr>
          <p:cNvPr id="9" name="Shape 6"/>
          <p:cNvSpPr/>
          <p:nvPr/>
        </p:nvSpPr>
        <p:spPr>
          <a:xfrm>
            <a:off x="4187952" y="1325880"/>
            <a:ext cx="4334256" cy="713232"/>
          </a:xfrm>
          <a:prstGeom prst="roundRect">
            <a:avLst>
              <a:gd name="adj" fmla="val 16026"/>
            </a:avLst>
          </a:prstGeom>
          <a:solidFill>
            <a:srgbClr val="EEEFFE"/>
          </a:solidFill>
          <a:ln/>
        </p:spPr>
      </p:sp>
      <p:sp>
        <p:nvSpPr>
          <p:cNvPr id="10" name="Text 7"/>
          <p:cNvSpPr txBox="1"/>
          <p:nvPr/>
        </p:nvSpPr>
        <p:spPr>
          <a:xfrm>
            <a:off x="4416552" y="1435608"/>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Notas en archivos de texto simples</a:t>
            </a:r>
            <a:endParaRPr lang="en-US" sz="1300" dirty="0"/>
          </a:p>
        </p:txBody>
      </p:sp>
      <p:sp>
        <p:nvSpPr>
          <p:cNvPr id="11" name="Text 8"/>
          <p:cNvSpPr txBox="1"/>
          <p:nvPr/>
        </p:nvSpPr>
        <p:spPr>
          <a:xfrm>
            <a:off x="4416552" y="1709928"/>
            <a:ext cx="3877056" cy="25603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Procesos, decisiones y glosario. No depende de un servicio.</a:t>
            </a:r>
            <a:endParaRPr lang="en-US" sz="1050" dirty="0"/>
          </a:p>
        </p:txBody>
      </p:sp>
      <p:sp>
        <p:nvSpPr>
          <p:cNvPr id="12" name="Shape 9"/>
          <p:cNvSpPr/>
          <p:nvPr/>
        </p:nvSpPr>
        <p:spPr>
          <a:xfrm>
            <a:off x="3383280" y="2487168"/>
            <a:ext cx="804672" cy="0"/>
          </a:xfrm>
          <a:prstGeom prst="line">
            <a:avLst/>
          </a:prstGeom>
          <a:noFill/>
          <a:ln w="12700">
            <a:solidFill>
              <a:srgbClr val="9E9E9E"/>
            </a:solidFill>
            <a:prstDash val="solid"/>
          </a:ln>
        </p:spPr>
      </p:sp>
      <p:sp>
        <p:nvSpPr>
          <p:cNvPr id="13" name="Shape 10"/>
          <p:cNvSpPr/>
          <p:nvPr/>
        </p:nvSpPr>
        <p:spPr>
          <a:xfrm>
            <a:off x="4187952" y="2130552"/>
            <a:ext cx="4334256" cy="713232"/>
          </a:xfrm>
          <a:prstGeom prst="roundRect">
            <a:avLst>
              <a:gd name="adj" fmla="val 16026"/>
            </a:avLst>
          </a:prstGeom>
          <a:solidFill>
            <a:srgbClr val="EEEFFE"/>
          </a:solidFill>
          <a:ln/>
        </p:spPr>
      </p:sp>
      <p:sp>
        <p:nvSpPr>
          <p:cNvPr id="14" name="Text 11"/>
          <p:cNvSpPr txBox="1"/>
          <p:nvPr/>
        </p:nvSpPr>
        <p:spPr>
          <a:xfrm>
            <a:off x="4416552" y="2240280"/>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Claude lee y escribe a través de un conector</a:t>
            </a:r>
            <a:endParaRPr lang="en-US" sz="1300" dirty="0"/>
          </a:p>
        </p:txBody>
      </p:sp>
      <p:sp>
        <p:nvSpPr>
          <p:cNvPr id="15" name="Text 12"/>
          <p:cNvSpPr txBox="1"/>
          <p:nvPr/>
        </p:nvSpPr>
        <p:spPr>
          <a:xfrm>
            <a:off x="4416552" y="2514600"/>
            <a:ext cx="3877056" cy="25603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Una memoria propia, ordenada y portable.</a:t>
            </a:r>
            <a:endParaRPr lang="en-US" sz="1050" dirty="0"/>
          </a:p>
        </p:txBody>
      </p:sp>
      <p:sp>
        <p:nvSpPr>
          <p:cNvPr id="16" name="Shape 13"/>
          <p:cNvSpPr/>
          <p:nvPr/>
        </p:nvSpPr>
        <p:spPr>
          <a:xfrm>
            <a:off x="3383280" y="3291840"/>
            <a:ext cx="804672" cy="0"/>
          </a:xfrm>
          <a:prstGeom prst="line">
            <a:avLst/>
          </a:prstGeom>
          <a:noFill/>
          <a:ln w="12700">
            <a:solidFill>
              <a:srgbClr val="9E9E9E"/>
            </a:solidFill>
            <a:prstDash val="solid"/>
          </a:ln>
        </p:spPr>
      </p:sp>
      <p:sp>
        <p:nvSpPr>
          <p:cNvPr id="17" name="Shape 14"/>
          <p:cNvSpPr/>
          <p:nvPr/>
        </p:nvSpPr>
        <p:spPr>
          <a:xfrm>
            <a:off x="4187952" y="2935224"/>
            <a:ext cx="4334256" cy="713232"/>
          </a:xfrm>
          <a:prstGeom prst="roundRect">
            <a:avLst>
              <a:gd name="adj" fmla="val 16026"/>
            </a:avLst>
          </a:prstGeom>
          <a:solidFill>
            <a:srgbClr val="EEEFFE"/>
          </a:solidFill>
          <a:ln/>
        </p:spPr>
      </p:sp>
      <p:sp>
        <p:nvSpPr>
          <p:cNvPr id="18" name="Text 15"/>
          <p:cNvSpPr txBox="1"/>
          <p:nvPr/>
        </p:nvSpPr>
        <p:spPr>
          <a:xfrm>
            <a:off x="4416552" y="3044952"/>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Para Finanzas</a:t>
            </a:r>
            <a:endParaRPr lang="en-US" sz="1300" dirty="0"/>
          </a:p>
        </p:txBody>
      </p:sp>
      <p:sp>
        <p:nvSpPr>
          <p:cNvPr id="19" name="Text 16"/>
          <p:cNvSpPr txBox="1"/>
          <p:nvPr/>
        </p:nvSpPr>
        <p:spPr>
          <a:xfrm>
            <a:off x="4416552" y="3319272"/>
            <a:ext cx="3877056" cy="25603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Documentar procesos de cierre, criterios contables y decisiones.</a:t>
            </a:r>
            <a:endParaRPr lang="en-US" sz="1050" dirty="0"/>
          </a:p>
        </p:txBody>
      </p:sp>
      <p:sp>
        <p:nvSpPr>
          <p:cNvPr id="20" name="Shape 17"/>
          <p:cNvSpPr/>
          <p:nvPr/>
        </p:nvSpPr>
        <p:spPr>
          <a:xfrm>
            <a:off x="3383280" y="4096512"/>
            <a:ext cx="804672" cy="0"/>
          </a:xfrm>
          <a:prstGeom prst="line">
            <a:avLst/>
          </a:prstGeom>
          <a:noFill/>
          <a:ln w="12700">
            <a:solidFill>
              <a:srgbClr val="9E9E9E"/>
            </a:solidFill>
            <a:prstDash val="solid"/>
          </a:ln>
        </p:spPr>
      </p:sp>
      <p:sp>
        <p:nvSpPr>
          <p:cNvPr id="21" name="Shape 18"/>
          <p:cNvSpPr/>
          <p:nvPr/>
        </p:nvSpPr>
        <p:spPr>
          <a:xfrm>
            <a:off x="4187952" y="3739896"/>
            <a:ext cx="4334256" cy="713232"/>
          </a:xfrm>
          <a:prstGeom prst="roundRect">
            <a:avLst>
              <a:gd name="adj" fmla="val 16026"/>
            </a:avLst>
          </a:prstGeom>
          <a:solidFill>
            <a:srgbClr val="EEEFFE"/>
          </a:solidFill>
          <a:ln/>
        </p:spPr>
      </p:sp>
      <p:sp>
        <p:nvSpPr>
          <p:cNvPr id="22" name="Text 19"/>
          <p:cNvSpPr txBox="1"/>
          <p:nvPr/>
        </p:nvSpPr>
        <p:spPr>
          <a:xfrm>
            <a:off x="4416552" y="3849624"/>
            <a:ext cx="3877056" cy="256032"/>
          </a:xfrm>
          <a:prstGeom prst="rect">
            <a:avLst/>
          </a:prstGeom>
          <a:noFill/>
          <a:ln/>
        </p:spPr>
        <p:txBody>
          <a:bodyPr wrap="square" lIns="0" tIns="0" rIns="0" bIns="0" rtlCol="0" anchor="t"/>
          <a:lstStyle/>
          <a:p>
            <a:pPr algn="l" indent="0" marL="0">
              <a:lnSpc>
                <a:spcPct val="100000"/>
              </a:lnSpc>
              <a:buNone/>
            </a:pPr>
            <a:r>
              <a:rPr lang="en-US" sz="1300" dirty="0">
                <a:solidFill>
                  <a:srgbClr val="3333FF"/>
                </a:solidFill>
                <a:latin typeface="DM Sans SemiBold" pitchFamily="34" charset="0"/>
                <a:ea typeface="DM Sans SemiBold" pitchFamily="34" charset="-122"/>
                <a:cs typeface="DM Sans SemiBold" pitchFamily="34" charset="-120"/>
              </a:rPr>
              <a:t>Antes de empezar</a:t>
            </a:r>
            <a:endParaRPr lang="en-US" sz="1300" dirty="0"/>
          </a:p>
        </p:txBody>
      </p:sp>
      <p:sp>
        <p:nvSpPr>
          <p:cNvPr id="23" name="Text 20"/>
          <p:cNvSpPr txBox="1"/>
          <p:nvPr/>
        </p:nvSpPr>
        <p:spPr>
          <a:xfrm>
            <a:off x="4416552" y="4123944"/>
            <a:ext cx="3877056" cy="256032"/>
          </a:xfrm>
          <a:prstGeom prst="rect">
            <a:avLst/>
          </a:prstGeom>
          <a:noFill/>
          <a:ln/>
        </p:spPr>
        <p:txBody>
          <a:bodyPr wrap="square" lIns="0" tIns="0" rIns="0" bIns="0" rtlCol="0" anchor="t"/>
          <a:lstStyle/>
          <a:p>
            <a:pPr algn="l" indent="0" marL="0">
              <a:lnSpc>
                <a:spcPct val="100000"/>
              </a:lnSpc>
              <a:buNone/>
            </a:pPr>
            <a:r>
              <a:rPr lang="en-US" sz="1050" dirty="0">
                <a:solidFill>
                  <a:srgbClr val="333333"/>
                </a:solidFill>
                <a:latin typeface="DM Sans" pitchFamily="34" charset="0"/>
                <a:ea typeface="DM Sans" pitchFamily="34" charset="-122"/>
                <a:cs typeface="DM Sans" pitchFamily="34" charset="-120"/>
              </a:rPr>
              <a:t>No guardar datos sensibles sin definir dónde vive la bóveda.</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Cinco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funciones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más que cambian el trabajo diario de Finanzas</a:t>
            </a:r>
            <a:endParaRPr lang="en-US" sz="1800" dirty="0"/>
          </a:p>
        </p:txBody>
      </p:sp>
      <p:sp>
        <p:nvSpPr>
          <p:cNvPr id="4" name="Text 1"/>
          <p:cNvSpPr txBox="1"/>
          <p:nvPr/>
        </p:nvSpPr>
        <p:spPr>
          <a:xfrm>
            <a:off x="634594" y="1371600"/>
            <a:ext cx="2245766" cy="274320"/>
          </a:xfrm>
          <a:prstGeom prst="rect">
            <a:avLst/>
          </a:prstGeom>
          <a:noFill/>
          <a:ln/>
        </p:spPr>
        <p:txBody>
          <a:bodyPr wrap="square" lIns="0" tIns="0" rIns="0" bIns="0" rtlCol="0" anchor="t"/>
          <a:lstStyle/>
          <a:p>
            <a:pPr algn="l" indent="0" marL="0">
              <a:lnSpc>
                <a:spcPct val="100000"/>
              </a:lnSpc>
              <a:buNone/>
            </a:pPr>
            <a:r>
              <a:rPr lang="en-US" sz="1000" dirty="0">
                <a:solidFill>
                  <a:srgbClr val="3333FF"/>
                </a:solidFill>
                <a:latin typeface="DM Sans SemiBold" pitchFamily="34" charset="0"/>
                <a:ea typeface="DM Sans SemiBold" pitchFamily="34" charset="-122"/>
                <a:cs typeface="DM Sans SemiBold" pitchFamily="34" charset="-120"/>
              </a:rPr>
              <a:t>Función</a:t>
            </a:r>
            <a:endParaRPr lang="en-US" sz="1000" dirty="0"/>
          </a:p>
        </p:txBody>
      </p:sp>
      <p:sp>
        <p:nvSpPr>
          <p:cNvPr id="5" name="Text 2"/>
          <p:cNvSpPr txBox="1"/>
          <p:nvPr/>
        </p:nvSpPr>
        <p:spPr>
          <a:xfrm>
            <a:off x="3017520" y="1371600"/>
            <a:ext cx="5367528" cy="274320"/>
          </a:xfrm>
          <a:prstGeom prst="rect">
            <a:avLst/>
          </a:prstGeom>
          <a:noFill/>
          <a:ln/>
        </p:spPr>
        <p:txBody>
          <a:bodyPr wrap="square" lIns="0" tIns="0" rIns="0" bIns="0" rtlCol="0" anchor="t"/>
          <a:lstStyle/>
          <a:p>
            <a:pPr algn="l" indent="0" marL="0">
              <a:lnSpc>
                <a:spcPct val="100000"/>
              </a:lnSpc>
              <a:buNone/>
            </a:pPr>
            <a:r>
              <a:rPr lang="en-US" sz="1000" dirty="0">
                <a:solidFill>
                  <a:srgbClr val="3333FF"/>
                </a:solidFill>
                <a:latin typeface="DM Sans SemiBold" pitchFamily="34" charset="0"/>
                <a:ea typeface="DM Sans SemiBold" pitchFamily="34" charset="-122"/>
                <a:cs typeface="DM Sans SemiBold" pitchFamily="34" charset="-120"/>
              </a:rPr>
              <a:t>Qué hace</a:t>
            </a:r>
            <a:endParaRPr lang="en-US" sz="1000" dirty="0"/>
          </a:p>
        </p:txBody>
      </p:sp>
      <p:sp>
        <p:nvSpPr>
          <p:cNvPr id="6" name="Shape 3"/>
          <p:cNvSpPr/>
          <p:nvPr/>
        </p:nvSpPr>
        <p:spPr>
          <a:xfrm>
            <a:off x="634594" y="1700784"/>
            <a:ext cx="7887614" cy="0"/>
          </a:xfrm>
          <a:prstGeom prst="line">
            <a:avLst/>
          </a:prstGeom>
          <a:noFill/>
          <a:ln w="12700">
            <a:solidFill>
              <a:srgbClr val="3333FF"/>
            </a:solidFill>
            <a:prstDash val="solid"/>
          </a:ln>
        </p:spPr>
      </p:sp>
      <p:sp>
        <p:nvSpPr>
          <p:cNvPr id="7" name="Text 4"/>
          <p:cNvSpPr txBox="1"/>
          <p:nvPr/>
        </p:nvSpPr>
        <p:spPr>
          <a:xfrm>
            <a:off x="634594" y="173736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Memoria</a:t>
            </a:r>
            <a:endParaRPr lang="en-US" sz="1100" dirty="0"/>
          </a:p>
        </p:txBody>
      </p:sp>
      <p:sp>
        <p:nvSpPr>
          <p:cNvPr id="8" name="Text 5"/>
          <p:cNvSpPr txBox="1"/>
          <p:nvPr/>
        </p:nvSpPr>
        <p:spPr>
          <a:xfrm>
            <a:off x="3017520" y="173736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Recuerda preferencias entre conversaciones</a:t>
            </a:r>
            <a:endParaRPr lang="en-US" sz="1100" dirty="0"/>
          </a:p>
        </p:txBody>
      </p:sp>
      <p:sp>
        <p:nvSpPr>
          <p:cNvPr id="9" name="Shape 6"/>
          <p:cNvSpPr/>
          <p:nvPr/>
        </p:nvSpPr>
        <p:spPr>
          <a:xfrm>
            <a:off x="634594" y="2148840"/>
            <a:ext cx="7887614" cy="0"/>
          </a:xfrm>
          <a:prstGeom prst="line">
            <a:avLst/>
          </a:prstGeom>
          <a:noFill/>
          <a:ln w="9525">
            <a:solidFill>
              <a:srgbClr val="E4E4E4"/>
            </a:solidFill>
            <a:prstDash val="solid"/>
          </a:ln>
        </p:spPr>
      </p:sp>
      <p:sp>
        <p:nvSpPr>
          <p:cNvPr id="10" name="Text 7"/>
          <p:cNvSpPr txBox="1"/>
          <p:nvPr/>
        </p:nvSpPr>
        <p:spPr>
          <a:xfrm>
            <a:off x="634594" y="214884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Carga de archivos</a:t>
            </a:r>
            <a:endParaRPr lang="en-US" sz="1100" dirty="0"/>
          </a:p>
        </p:txBody>
      </p:sp>
      <p:sp>
        <p:nvSpPr>
          <p:cNvPr id="11" name="Text 8"/>
          <p:cNvSpPr txBox="1"/>
          <p:nvPr/>
        </p:nvSpPr>
        <p:spPr>
          <a:xfrm>
            <a:off x="3017520" y="214884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Analiza Excel, PDF y CSV directamente</a:t>
            </a:r>
            <a:endParaRPr lang="en-US" sz="1100" dirty="0"/>
          </a:p>
        </p:txBody>
      </p:sp>
      <p:sp>
        <p:nvSpPr>
          <p:cNvPr id="12" name="Shape 9"/>
          <p:cNvSpPr/>
          <p:nvPr/>
        </p:nvSpPr>
        <p:spPr>
          <a:xfrm>
            <a:off x="634594" y="2560320"/>
            <a:ext cx="7887614" cy="0"/>
          </a:xfrm>
          <a:prstGeom prst="line">
            <a:avLst/>
          </a:prstGeom>
          <a:noFill/>
          <a:ln w="9525">
            <a:solidFill>
              <a:srgbClr val="E4E4E4"/>
            </a:solidFill>
            <a:prstDash val="solid"/>
          </a:ln>
        </p:spPr>
      </p:sp>
      <p:sp>
        <p:nvSpPr>
          <p:cNvPr id="13" name="Text 10"/>
          <p:cNvSpPr txBox="1"/>
          <p:nvPr/>
        </p:nvSpPr>
        <p:spPr>
          <a:xfrm>
            <a:off x="634594" y="256032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Artifacts</a:t>
            </a:r>
            <a:endParaRPr lang="en-US" sz="1100" dirty="0"/>
          </a:p>
        </p:txBody>
      </p:sp>
      <p:sp>
        <p:nvSpPr>
          <p:cNvPr id="14" name="Text 11"/>
          <p:cNvSpPr txBox="1"/>
          <p:nvPr/>
        </p:nvSpPr>
        <p:spPr>
          <a:xfrm>
            <a:off x="3017520" y="256032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Tableros y páginas interactivas a partir de datos</a:t>
            </a:r>
            <a:endParaRPr lang="en-US" sz="1100" dirty="0"/>
          </a:p>
        </p:txBody>
      </p:sp>
      <p:sp>
        <p:nvSpPr>
          <p:cNvPr id="15" name="Shape 12"/>
          <p:cNvSpPr/>
          <p:nvPr/>
        </p:nvSpPr>
        <p:spPr>
          <a:xfrm>
            <a:off x="634594" y="2971800"/>
            <a:ext cx="7887614" cy="0"/>
          </a:xfrm>
          <a:prstGeom prst="line">
            <a:avLst/>
          </a:prstGeom>
          <a:noFill/>
          <a:ln w="9525">
            <a:solidFill>
              <a:srgbClr val="E4E4E4"/>
            </a:solidFill>
            <a:prstDash val="solid"/>
          </a:ln>
        </p:spPr>
      </p:sp>
      <p:sp>
        <p:nvSpPr>
          <p:cNvPr id="16" name="Text 13"/>
          <p:cNvSpPr txBox="1"/>
          <p:nvPr/>
        </p:nvSpPr>
        <p:spPr>
          <a:xfrm>
            <a:off x="634594" y="297180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Investigación profunda</a:t>
            </a:r>
            <a:endParaRPr lang="en-US" sz="1100" dirty="0"/>
          </a:p>
        </p:txBody>
      </p:sp>
      <p:sp>
        <p:nvSpPr>
          <p:cNvPr id="17" name="Text 14"/>
          <p:cNvSpPr txBox="1"/>
          <p:nvPr/>
        </p:nvSpPr>
        <p:spPr>
          <a:xfrm>
            <a:off x="3017520" y="297180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Informes con múltiples fuentes</a:t>
            </a:r>
            <a:endParaRPr lang="en-US" sz="1100" dirty="0"/>
          </a:p>
        </p:txBody>
      </p:sp>
      <p:sp>
        <p:nvSpPr>
          <p:cNvPr id="18" name="Shape 15"/>
          <p:cNvSpPr/>
          <p:nvPr/>
        </p:nvSpPr>
        <p:spPr>
          <a:xfrm>
            <a:off x="634594" y="3383280"/>
            <a:ext cx="7887614" cy="0"/>
          </a:xfrm>
          <a:prstGeom prst="line">
            <a:avLst/>
          </a:prstGeom>
          <a:noFill/>
          <a:ln w="9525">
            <a:solidFill>
              <a:srgbClr val="E4E4E4"/>
            </a:solidFill>
            <a:prstDash val="solid"/>
          </a:ln>
        </p:spPr>
      </p:sp>
      <p:sp>
        <p:nvSpPr>
          <p:cNvPr id="19" name="Text 16"/>
          <p:cNvSpPr txBox="1"/>
          <p:nvPr/>
        </p:nvSpPr>
        <p:spPr>
          <a:xfrm>
            <a:off x="634594" y="3383280"/>
            <a:ext cx="2245766"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FF"/>
                </a:solidFill>
                <a:latin typeface="DM Sans SemiBold" pitchFamily="34" charset="0"/>
                <a:ea typeface="DM Sans SemiBold" pitchFamily="34" charset="-122"/>
                <a:cs typeface="DM Sans SemiBold" pitchFamily="34" charset="-120"/>
              </a:rPr>
              <a:t>Claude en Chrome</a:t>
            </a:r>
            <a:endParaRPr lang="en-US" sz="1100" dirty="0"/>
          </a:p>
        </p:txBody>
      </p:sp>
      <p:sp>
        <p:nvSpPr>
          <p:cNvPr id="20" name="Text 17"/>
          <p:cNvSpPr txBox="1"/>
          <p:nvPr/>
        </p:nvSpPr>
        <p:spPr>
          <a:xfrm>
            <a:off x="3017520" y="3383280"/>
            <a:ext cx="5367528" cy="411480"/>
          </a:xfrm>
          <a:prstGeom prst="rect">
            <a:avLst/>
          </a:prstGeom>
          <a:noFill/>
          <a:ln/>
        </p:spPr>
        <p:txBody>
          <a:bodyPr wrap="square" lIns="0" tIns="0" rIns="0" bIns="0" rtlCol="0" anchor="ctr"/>
          <a:lstStyle/>
          <a:p>
            <a:pPr algn="l" indent="0" marL="0">
              <a:lnSpc>
                <a:spcPct val="100000"/>
              </a:lnSpc>
              <a:buNone/>
            </a:pPr>
            <a:r>
              <a:rPr lang="en-US" sz="1100" dirty="0">
                <a:solidFill>
                  <a:srgbClr val="333333"/>
                </a:solidFill>
                <a:latin typeface="DM Sans" pitchFamily="34" charset="0"/>
                <a:ea typeface="DM Sans" pitchFamily="34" charset="-122"/>
                <a:cs typeface="DM Sans" pitchFamily="34" charset="-120"/>
              </a:rPr>
              <a:t>Automatiza tareas en sitios web con tus propias sesiones</a:t>
            </a:r>
            <a:endParaRPr lang="en-US" sz="1100" dirty="0"/>
          </a:p>
        </p:txBody>
      </p:sp>
      <p:sp>
        <p:nvSpPr>
          <p:cNvPr id="21" name="Text 18"/>
          <p:cNvSpPr txBox="1"/>
          <p:nvPr/>
        </p:nvSpPr>
        <p:spPr>
          <a:xfrm>
            <a:off x="634594" y="4407408"/>
            <a:ext cx="7863840" cy="228600"/>
          </a:xfrm>
          <a:prstGeom prst="rect">
            <a:avLst/>
          </a:prstGeom>
          <a:noFill/>
          <a:ln/>
        </p:spPr>
        <p:txBody>
          <a:bodyPr wrap="square" lIns="0" tIns="0" rIns="0" bIns="0" rtlCol="0" anchor="t"/>
          <a:lstStyle/>
          <a:p>
            <a:pPr algn="l" indent="0" marL="0">
              <a:lnSpc>
                <a:spcPct val="100000"/>
              </a:lnSpc>
              <a:buNone/>
            </a:pPr>
            <a:r>
              <a:rPr lang="en-US" sz="1000" dirty="0">
                <a:solidFill>
                  <a:srgbClr val="3E3E3E"/>
                </a:solidFill>
                <a:latin typeface="DM Sans" pitchFamily="34" charset="0"/>
                <a:ea typeface="DM Sans" pitchFamily="34" charset="-122"/>
                <a:cs typeface="DM Sans" pitchFamily="34" charset="-120"/>
              </a:rPr>
              <a:t>Todas sirven en Finanzas; conviene empezar por una sola.</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1554480"/>
            <a:ext cx="7132320" cy="2011680"/>
          </a:xfrm>
          <a:prstGeom prst="rect">
            <a:avLst/>
          </a:prstGeom>
          <a:noFill/>
          <a:ln/>
        </p:spPr>
        <p:txBody>
          <a:bodyPr wrap="square" lIns="0" tIns="0" rIns="0" bIns="0" rtlCol="0" anchor="ctr"/>
          <a:lstStyle/>
          <a:p>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Claude acelera, pero </a:t>
            </a:r>
            <a:pPr algn="l" indent="0" marL="0">
              <a:lnSpc>
                <a:spcPct val="105000"/>
              </a:lnSpc>
              <a:buNone/>
            </a:pPr>
            <a:r>
              <a:rPr lang="en-US" sz="3200" dirty="0">
                <a:solidFill>
                  <a:srgbClr val="3333FF"/>
                </a:solidFill>
                <a:latin typeface="Gloock" pitchFamily="34" charset="0"/>
                <a:ea typeface="Gloock" pitchFamily="34" charset="-122"/>
                <a:cs typeface="Gloock" pitchFamily="34" charset="-120"/>
              </a:rPr>
              <a:t>la cifra</a:t>
            </a:r>
            <a:pPr algn="l" indent="0" marL="0">
              <a:lnSpc>
                <a:spcPct val="105000"/>
              </a:lnSpc>
              <a:buNone/>
            </a:pPr>
            <a:r>
              <a:rPr lang="en-US" sz="3200" dirty="0">
                <a:solidFill>
                  <a:srgbClr val="333333"/>
                </a:solidFill>
                <a:latin typeface="DM Sans SemiBold" pitchFamily="34" charset="0"/>
                <a:ea typeface="DM Sans SemiBold" pitchFamily="34" charset="-122"/>
                <a:cs typeface="DM Sans SemiBold" pitchFamily="34" charset="-120"/>
              </a:rPr>
              <a:t> la firmás vos</a:t>
            </a:r>
            <a:endParaRPr lang="en-US" sz="3200" dirty="0"/>
          </a:p>
        </p:txBody>
      </p:sp>
      <p:sp>
        <p:nvSpPr>
          <p:cNvPr id="3" name="Text 1"/>
          <p:cNvSpPr txBox="1"/>
          <p:nvPr/>
        </p:nvSpPr>
        <p:spPr>
          <a:xfrm>
            <a:off x="634594" y="3749040"/>
            <a:ext cx="7132320" cy="868680"/>
          </a:xfrm>
          <a:prstGeom prst="rect">
            <a:avLst/>
          </a:prstGeom>
          <a:noFill/>
          <a:ln/>
        </p:spPr>
        <p:txBody>
          <a:bodyPr wrap="square" lIns="0" tIns="0" rIns="0" bIns="0" rtlCol="0" anchor="t"/>
          <a:lstStyle/>
          <a:p>
            <a:pPr algn="l" indent="0" marL="0">
              <a:lnSpc>
                <a:spcPct val="100000"/>
              </a:lnSpc>
              <a:spcAft>
                <a:spcPts val="200"/>
              </a:spcAft>
              <a:buNone/>
            </a:pPr>
            <a:r>
              <a:rPr lang="en-US" sz="1300" dirty="0">
                <a:solidFill>
                  <a:srgbClr val="333333"/>
                </a:solidFill>
                <a:latin typeface="DM Sans" pitchFamily="34" charset="0"/>
                <a:ea typeface="DM Sans" pitchFamily="34" charset="-122"/>
                <a:cs typeface="DM Sans" pitchFamily="34" charset="-120"/>
              </a:rPr>
              <a:t>No pegar datos sensibles fuera de lo permitido por la empresa. Controlar los números críticos contra la fuente. Dar permisos mínimos. Aprobar las acciones de escritura una por una al principio.</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34594" y="482803"/>
            <a:ext cx="8010144" cy="640080"/>
          </a:xfrm>
          <a:prstGeom prst="rect">
            <a:avLst/>
          </a:prstGeom>
          <a:noFill/>
          <a:ln/>
        </p:spPr>
        <p:txBody>
          <a:bodyPr wrap="square" lIns="0" tIns="0" rIns="0" bIns="0" rtlCol="0" anchor="t"/>
          <a:lstStyle/>
          <a:p>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En </a:t>
            </a:r>
            <a:pPr algn="l" indent="0" marL="0">
              <a:lnSpc>
                <a:spcPct val="100000"/>
              </a:lnSpc>
              <a:buNone/>
            </a:pPr>
            <a:r>
              <a:rPr lang="en-US" sz="1800" dirty="0">
                <a:solidFill>
                  <a:srgbClr val="3333FF"/>
                </a:solidFill>
                <a:latin typeface="Gloock" pitchFamily="34" charset="0"/>
                <a:ea typeface="Gloock" pitchFamily="34" charset="-122"/>
                <a:cs typeface="Gloock" pitchFamily="34" charset="-120"/>
              </a:rPr>
              <a:t>30 días</a:t>
            </a:r>
            <a:pPr algn="l" indent="0" marL="0">
              <a:lnSpc>
                <a:spcPct val="100000"/>
              </a:lnSpc>
              <a:buNone/>
            </a:pPr>
            <a:r>
              <a:rPr lang="en-US" sz="1800" dirty="0">
                <a:solidFill>
                  <a:srgbClr val="3333FF"/>
                </a:solidFill>
                <a:latin typeface="DM Sans Medium" pitchFamily="34" charset="0"/>
                <a:ea typeface="DM Sans Medium" pitchFamily="34" charset="-122"/>
                <a:cs typeface="DM Sans Medium" pitchFamily="34" charset="-120"/>
              </a:rPr>
              <a:t>: una skill, un conector y una tarea programada</a:t>
            </a:r>
            <a:endParaRPr lang="en-US" sz="1800" dirty="0"/>
          </a:p>
        </p:txBody>
      </p:sp>
      <p:sp>
        <p:nvSpPr>
          <p:cNvPr id="4" name="Shape 1"/>
          <p:cNvSpPr/>
          <p:nvPr/>
        </p:nvSpPr>
        <p:spPr>
          <a:xfrm>
            <a:off x="1417320" y="2468880"/>
            <a:ext cx="6309360" cy="0"/>
          </a:xfrm>
          <a:prstGeom prst="line">
            <a:avLst/>
          </a:prstGeom>
          <a:noFill/>
          <a:ln w="12700">
            <a:solidFill>
              <a:srgbClr val="9E9E9E"/>
            </a:solidFill>
            <a:prstDash val="solid"/>
          </a:ln>
        </p:spPr>
      </p:sp>
      <p:sp>
        <p:nvSpPr>
          <p:cNvPr id="5" name="Shape 2"/>
          <p:cNvSpPr/>
          <p:nvPr/>
        </p:nvSpPr>
        <p:spPr>
          <a:xfrm>
            <a:off x="1280160" y="2331720"/>
            <a:ext cx="274320" cy="274320"/>
          </a:xfrm>
          <a:prstGeom prst="roundRect">
            <a:avLst>
              <a:gd name="adj" fmla="val 50000"/>
            </a:avLst>
          </a:prstGeom>
          <a:solidFill>
            <a:srgbClr val="3333FF"/>
          </a:solidFill>
          <a:ln/>
        </p:spPr>
      </p:sp>
      <p:sp>
        <p:nvSpPr>
          <p:cNvPr id="6" name="Text 3"/>
          <p:cNvSpPr txBox="1"/>
          <p:nvPr/>
        </p:nvSpPr>
        <p:spPr>
          <a:xfrm>
            <a:off x="640080" y="1691640"/>
            <a:ext cx="1554480" cy="457200"/>
          </a:xfrm>
          <a:prstGeom prst="rect">
            <a:avLst/>
          </a:prstGeom>
          <a:noFill/>
          <a:ln/>
        </p:spPr>
        <p:txBody>
          <a:bodyPr wrap="square" lIns="0" tIns="0" rIns="0" bIns="0" rtlCol="0" anchor="b"/>
          <a:lstStyle/>
          <a:p>
            <a:pPr algn="ctr" indent="0" marL="0">
              <a:lnSpc>
                <a:spcPct val="100000"/>
              </a:lnSpc>
              <a:buNone/>
            </a:pPr>
            <a:r>
              <a:rPr lang="en-US" sz="1700" dirty="0">
                <a:solidFill>
                  <a:srgbClr val="3333FF"/>
                </a:solidFill>
                <a:latin typeface="Gloock" pitchFamily="34" charset="0"/>
                <a:ea typeface="Gloock" pitchFamily="34" charset="-122"/>
                <a:cs typeface="Gloock" pitchFamily="34" charset="-120"/>
              </a:rPr>
              <a:t>Semana 1</a:t>
            </a:r>
            <a:endParaRPr lang="en-US" sz="1700" dirty="0"/>
          </a:p>
        </p:txBody>
      </p:sp>
      <p:sp>
        <p:nvSpPr>
          <p:cNvPr id="7" name="Text 4"/>
          <p:cNvSpPr txBox="1"/>
          <p:nvPr/>
        </p:nvSpPr>
        <p:spPr>
          <a:xfrm>
            <a:off x="548640" y="2788920"/>
            <a:ext cx="1737360" cy="914400"/>
          </a:xfrm>
          <a:prstGeom prst="rect">
            <a:avLst/>
          </a:prstGeom>
          <a:noFill/>
          <a:ln/>
        </p:spPr>
        <p:txBody>
          <a:bodyPr wrap="square" lIns="0" tIns="0" rIns="0" bIns="0" rtlCol="0" anchor="t"/>
          <a:lstStyle/>
          <a:p>
            <a:pPr algn="ctr" indent="0" marL="0">
              <a:lnSpc>
                <a:spcPct val="100000"/>
              </a:lnSpc>
              <a:buNone/>
            </a:pPr>
            <a:r>
              <a:rPr lang="en-US" sz="1100" dirty="0">
                <a:solidFill>
                  <a:srgbClr val="333333"/>
                </a:solidFill>
                <a:latin typeface="DM Sans" pitchFamily="34" charset="0"/>
                <a:ea typeface="DM Sans" pitchFamily="34" charset="-122"/>
                <a:cs typeface="DM Sans" pitchFamily="34" charset="-120"/>
              </a:rPr>
              <a:t>Un Proyecto con el contexto de un proceso</a:t>
            </a:r>
            <a:endParaRPr lang="en-US" sz="1100" dirty="0"/>
          </a:p>
        </p:txBody>
      </p:sp>
      <p:sp>
        <p:nvSpPr>
          <p:cNvPr id="8" name="Shape 5"/>
          <p:cNvSpPr/>
          <p:nvPr/>
        </p:nvSpPr>
        <p:spPr>
          <a:xfrm>
            <a:off x="3383280" y="2331720"/>
            <a:ext cx="274320" cy="274320"/>
          </a:xfrm>
          <a:prstGeom prst="roundRect">
            <a:avLst>
              <a:gd name="adj" fmla="val 50000"/>
            </a:avLst>
          </a:prstGeom>
          <a:solidFill>
            <a:srgbClr val="3333FF"/>
          </a:solidFill>
          <a:ln/>
        </p:spPr>
      </p:sp>
      <p:sp>
        <p:nvSpPr>
          <p:cNvPr id="9" name="Text 6"/>
          <p:cNvSpPr txBox="1"/>
          <p:nvPr/>
        </p:nvSpPr>
        <p:spPr>
          <a:xfrm>
            <a:off x="2743200" y="1691640"/>
            <a:ext cx="1554480" cy="457200"/>
          </a:xfrm>
          <a:prstGeom prst="rect">
            <a:avLst/>
          </a:prstGeom>
          <a:noFill/>
          <a:ln/>
        </p:spPr>
        <p:txBody>
          <a:bodyPr wrap="square" lIns="0" tIns="0" rIns="0" bIns="0" rtlCol="0" anchor="b"/>
          <a:lstStyle/>
          <a:p>
            <a:pPr algn="ctr" indent="0" marL="0">
              <a:lnSpc>
                <a:spcPct val="100000"/>
              </a:lnSpc>
              <a:buNone/>
            </a:pPr>
            <a:r>
              <a:rPr lang="en-US" sz="1700" dirty="0">
                <a:solidFill>
                  <a:srgbClr val="3333FF"/>
                </a:solidFill>
                <a:latin typeface="Gloock" pitchFamily="34" charset="0"/>
                <a:ea typeface="Gloock" pitchFamily="34" charset="-122"/>
                <a:cs typeface="Gloock" pitchFamily="34" charset="-120"/>
              </a:rPr>
              <a:t>Semana 2</a:t>
            </a:r>
            <a:endParaRPr lang="en-US" sz="1700" dirty="0"/>
          </a:p>
        </p:txBody>
      </p:sp>
      <p:sp>
        <p:nvSpPr>
          <p:cNvPr id="10" name="Text 7"/>
          <p:cNvSpPr txBox="1"/>
          <p:nvPr/>
        </p:nvSpPr>
        <p:spPr>
          <a:xfrm>
            <a:off x="2651760" y="2788920"/>
            <a:ext cx="1737360" cy="914400"/>
          </a:xfrm>
          <a:prstGeom prst="rect">
            <a:avLst/>
          </a:prstGeom>
          <a:noFill/>
          <a:ln/>
        </p:spPr>
        <p:txBody>
          <a:bodyPr wrap="square" lIns="0" tIns="0" rIns="0" bIns="0" rtlCol="0" anchor="t"/>
          <a:lstStyle/>
          <a:p>
            <a:pPr algn="ctr" indent="0" marL="0">
              <a:lnSpc>
                <a:spcPct val="100000"/>
              </a:lnSpc>
              <a:buNone/>
            </a:pPr>
            <a:r>
              <a:rPr lang="en-US" sz="1100" dirty="0">
                <a:solidFill>
                  <a:srgbClr val="333333"/>
                </a:solidFill>
                <a:latin typeface="DM Sans" pitchFamily="34" charset="0"/>
                <a:ea typeface="DM Sans" pitchFamily="34" charset="-122"/>
                <a:cs typeface="DM Sans" pitchFamily="34" charset="-120"/>
              </a:rPr>
              <a:t>Una skill de un proceso repetitivo</a:t>
            </a:r>
            <a:endParaRPr lang="en-US" sz="1100" dirty="0"/>
          </a:p>
        </p:txBody>
      </p:sp>
      <p:sp>
        <p:nvSpPr>
          <p:cNvPr id="11" name="Shape 8"/>
          <p:cNvSpPr/>
          <p:nvPr/>
        </p:nvSpPr>
        <p:spPr>
          <a:xfrm>
            <a:off x="5486400" y="2331720"/>
            <a:ext cx="274320" cy="274320"/>
          </a:xfrm>
          <a:prstGeom prst="roundRect">
            <a:avLst>
              <a:gd name="adj" fmla="val 50000"/>
            </a:avLst>
          </a:prstGeom>
          <a:solidFill>
            <a:srgbClr val="3333FF"/>
          </a:solidFill>
          <a:ln/>
        </p:spPr>
      </p:sp>
      <p:sp>
        <p:nvSpPr>
          <p:cNvPr id="12" name="Text 9"/>
          <p:cNvSpPr txBox="1"/>
          <p:nvPr/>
        </p:nvSpPr>
        <p:spPr>
          <a:xfrm>
            <a:off x="4846320" y="1691640"/>
            <a:ext cx="1554480" cy="457200"/>
          </a:xfrm>
          <a:prstGeom prst="rect">
            <a:avLst/>
          </a:prstGeom>
          <a:noFill/>
          <a:ln/>
        </p:spPr>
        <p:txBody>
          <a:bodyPr wrap="square" lIns="0" tIns="0" rIns="0" bIns="0" rtlCol="0" anchor="b"/>
          <a:lstStyle/>
          <a:p>
            <a:pPr algn="ctr" indent="0" marL="0">
              <a:lnSpc>
                <a:spcPct val="100000"/>
              </a:lnSpc>
              <a:buNone/>
            </a:pPr>
            <a:r>
              <a:rPr lang="en-US" sz="1700" dirty="0">
                <a:solidFill>
                  <a:srgbClr val="3333FF"/>
                </a:solidFill>
                <a:latin typeface="Gloock" pitchFamily="34" charset="0"/>
                <a:ea typeface="Gloock" pitchFamily="34" charset="-122"/>
                <a:cs typeface="Gloock" pitchFamily="34" charset="-120"/>
              </a:rPr>
              <a:t>Semana 3</a:t>
            </a:r>
            <a:endParaRPr lang="en-US" sz="1700" dirty="0"/>
          </a:p>
        </p:txBody>
      </p:sp>
      <p:sp>
        <p:nvSpPr>
          <p:cNvPr id="13" name="Text 10"/>
          <p:cNvSpPr txBox="1"/>
          <p:nvPr/>
        </p:nvSpPr>
        <p:spPr>
          <a:xfrm>
            <a:off x="4754880" y="2788920"/>
            <a:ext cx="1737360" cy="914400"/>
          </a:xfrm>
          <a:prstGeom prst="rect">
            <a:avLst/>
          </a:prstGeom>
          <a:noFill/>
          <a:ln/>
        </p:spPr>
        <p:txBody>
          <a:bodyPr wrap="square" lIns="0" tIns="0" rIns="0" bIns="0" rtlCol="0" anchor="t"/>
          <a:lstStyle/>
          <a:p>
            <a:pPr algn="ctr" indent="0" marL="0">
              <a:lnSpc>
                <a:spcPct val="100000"/>
              </a:lnSpc>
              <a:buNone/>
            </a:pPr>
            <a:r>
              <a:rPr lang="en-US" sz="1100" dirty="0">
                <a:solidFill>
                  <a:srgbClr val="333333"/>
                </a:solidFill>
                <a:latin typeface="DM Sans" pitchFamily="34" charset="0"/>
                <a:ea typeface="DM Sans" pitchFamily="34" charset="-122"/>
                <a:cs typeface="DM Sans" pitchFamily="34" charset="-120"/>
              </a:rPr>
              <a:t>Conectar Drive o Sheets y probar con lectura</a:t>
            </a:r>
            <a:endParaRPr lang="en-US" sz="1100" dirty="0"/>
          </a:p>
        </p:txBody>
      </p:sp>
      <p:sp>
        <p:nvSpPr>
          <p:cNvPr id="14" name="Shape 11"/>
          <p:cNvSpPr/>
          <p:nvPr/>
        </p:nvSpPr>
        <p:spPr>
          <a:xfrm>
            <a:off x="7589520" y="2331720"/>
            <a:ext cx="274320" cy="274320"/>
          </a:xfrm>
          <a:prstGeom prst="roundRect">
            <a:avLst>
              <a:gd name="adj" fmla="val 50000"/>
            </a:avLst>
          </a:prstGeom>
          <a:solidFill>
            <a:srgbClr val="3333FF"/>
          </a:solidFill>
          <a:ln/>
        </p:spPr>
      </p:sp>
      <p:sp>
        <p:nvSpPr>
          <p:cNvPr id="15" name="Text 12"/>
          <p:cNvSpPr txBox="1"/>
          <p:nvPr/>
        </p:nvSpPr>
        <p:spPr>
          <a:xfrm>
            <a:off x="6949440" y="1691640"/>
            <a:ext cx="1554480" cy="457200"/>
          </a:xfrm>
          <a:prstGeom prst="rect">
            <a:avLst/>
          </a:prstGeom>
          <a:noFill/>
          <a:ln/>
        </p:spPr>
        <p:txBody>
          <a:bodyPr wrap="square" lIns="0" tIns="0" rIns="0" bIns="0" rtlCol="0" anchor="b"/>
          <a:lstStyle/>
          <a:p>
            <a:pPr algn="ctr" indent="0" marL="0">
              <a:lnSpc>
                <a:spcPct val="100000"/>
              </a:lnSpc>
              <a:buNone/>
            </a:pPr>
            <a:r>
              <a:rPr lang="en-US" sz="1700" dirty="0">
                <a:solidFill>
                  <a:srgbClr val="3333FF"/>
                </a:solidFill>
                <a:latin typeface="Gloock" pitchFamily="34" charset="0"/>
                <a:ea typeface="Gloock" pitchFamily="34" charset="-122"/>
                <a:cs typeface="Gloock" pitchFamily="34" charset="-120"/>
              </a:rPr>
              <a:t>Semana 4</a:t>
            </a:r>
            <a:endParaRPr lang="en-US" sz="1700" dirty="0"/>
          </a:p>
        </p:txBody>
      </p:sp>
      <p:sp>
        <p:nvSpPr>
          <p:cNvPr id="16" name="Text 13"/>
          <p:cNvSpPr txBox="1"/>
          <p:nvPr/>
        </p:nvSpPr>
        <p:spPr>
          <a:xfrm>
            <a:off x="6858000" y="2788920"/>
            <a:ext cx="1737360" cy="914400"/>
          </a:xfrm>
          <a:prstGeom prst="rect">
            <a:avLst/>
          </a:prstGeom>
          <a:noFill/>
          <a:ln/>
        </p:spPr>
        <p:txBody>
          <a:bodyPr wrap="square" lIns="0" tIns="0" rIns="0" bIns="0" rtlCol="0" anchor="t"/>
          <a:lstStyle/>
          <a:p>
            <a:pPr algn="ctr" indent="0" marL="0">
              <a:lnSpc>
                <a:spcPct val="100000"/>
              </a:lnSpc>
              <a:buNone/>
            </a:pPr>
            <a:r>
              <a:rPr lang="en-US" sz="1100" dirty="0">
                <a:solidFill>
                  <a:srgbClr val="333333"/>
                </a:solidFill>
                <a:latin typeface="DM Sans" pitchFamily="34" charset="0"/>
                <a:ea typeface="DM Sans" pitchFamily="34" charset="-122"/>
                <a:cs typeface="DM Sans" pitchFamily="34" charset="-120"/>
              </a:rPr>
              <a:t>Programar una tarea simple</a:t>
            </a:r>
            <a:endParaRPr lang="en-US" sz="1100" dirty="0"/>
          </a:p>
        </p:txBody>
      </p:sp>
      <p:sp>
        <p:nvSpPr>
          <p:cNvPr id="17" name="Shape 14"/>
          <p:cNvSpPr/>
          <p:nvPr/>
        </p:nvSpPr>
        <p:spPr>
          <a:xfrm>
            <a:off x="634594" y="3931920"/>
            <a:ext cx="7887614" cy="594360"/>
          </a:xfrm>
          <a:prstGeom prst="roundRect">
            <a:avLst>
              <a:gd name="adj" fmla="val 19231"/>
            </a:avLst>
          </a:prstGeom>
          <a:solidFill>
            <a:srgbClr val="EEEFFE"/>
          </a:solidFill>
          <a:ln/>
        </p:spPr>
      </p:sp>
      <p:sp>
        <p:nvSpPr>
          <p:cNvPr id="18" name="Text 15"/>
          <p:cNvSpPr txBox="1"/>
          <p:nvPr/>
        </p:nvSpPr>
        <p:spPr>
          <a:xfrm>
            <a:off x="863194" y="3931920"/>
            <a:ext cx="7430414" cy="594360"/>
          </a:xfrm>
          <a:prstGeom prst="rect">
            <a:avLst/>
          </a:prstGeom>
          <a:noFill/>
          <a:ln/>
        </p:spPr>
        <p:txBody>
          <a:bodyPr wrap="square" lIns="0" tIns="0" rIns="0" bIns="0" rtlCol="0" anchor="ctr"/>
          <a:lstStyle/>
          <a:p>
            <a:pPr algn="l" indent="0" marL="0">
              <a:lnSpc>
                <a:spcPct val="100000"/>
              </a:lnSpc>
              <a:buNone/>
            </a:pPr>
            <a:r>
              <a:rPr lang="en-US" sz="1200" dirty="0">
                <a:solidFill>
                  <a:srgbClr val="3333FF"/>
                </a:solidFill>
                <a:latin typeface="DM Sans SemiBold" pitchFamily="34" charset="0"/>
                <a:ea typeface="DM Sans SemiBold" pitchFamily="34" charset="-122"/>
                <a:cs typeface="DM Sans SemiBold" pitchFamily="34" charset="-120"/>
              </a:rPr>
              <a:t>Al final del mes, medimos cuánto tiempo ahorraron.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111"/>
        </a:solidFill>
      </p:bgPr>
    </p:bg>
    <p:spTree>
      <p:nvGrpSpPr>
        <p:cNvPr id="1" name=""/>
        <p:cNvGrpSpPr/>
        <p:nvPr/>
      </p:nvGrpSpPr>
      <p:grpSpPr>
        <a:xfrm>
          <a:off x="0" y="0"/>
          <a:ext cx="0" cy="0"/>
          <a:chOff x="0" y="0"/>
          <a:chExt cx="0" cy="0"/>
        </a:xfrm>
      </p:grpSpPr>
      <p:sp>
        <p:nvSpPr>
          <p:cNvPr id="2" name="Text 0"/>
          <p:cNvSpPr txBox="1"/>
          <p:nvPr/>
        </p:nvSpPr>
        <p:spPr>
          <a:xfrm>
            <a:off x="621792" y="2194560"/>
            <a:ext cx="7900416" cy="731520"/>
          </a:xfrm>
          <a:prstGeom prst="rect">
            <a:avLst/>
          </a:prstGeom>
          <a:noFill/>
          <a:ln/>
        </p:spPr>
        <p:txBody>
          <a:bodyPr wrap="square" lIns="0" tIns="0" rIns="0" bIns="0" rtlCol="0" anchor="ctr"/>
          <a:lstStyle/>
          <a:p>
            <a:pPr algn="ctr" indent="0" marL="0">
              <a:lnSpc>
                <a:spcPct val="100000"/>
              </a:lnSpc>
              <a:buNone/>
            </a:pPr>
            <a:r>
              <a:rPr lang="en-US" sz="2800" dirty="0">
                <a:solidFill>
                  <a:srgbClr val="FFFFFF"/>
                </a:solidFill>
                <a:latin typeface="DM Sans SemiBold" pitchFamily="34" charset="0"/>
                <a:ea typeface="DM Sans SemiBold" pitchFamily="34" charset="-122"/>
                <a:cs typeface="DM Sans SemiBold" pitchFamily="34" charset="-120"/>
              </a:rPr>
              <a:t>¡Muchas gracias!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 fondo para Finanzas</dc:title>
  <dc:subject>PptxGenJS Presentation</dc:subject>
  <dc:creator>Eleven</dc:creator>
  <cp:lastModifiedBy>Eleven</cp:lastModifiedBy>
  <cp:revision>1</cp:revision>
  <dcterms:created xsi:type="dcterms:W3CDTF">2026-10-29T13:49:45Z</dcterms:created>
  <dcterms:modified xsi:type="dcterms:W3CDTF">2026-10-29T13:49:45Z</dcterms:modified>
</cp:coreProperties>
</file>